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3823D-2FD0-41CF-9BF5-2FC0EC61A81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05A1F-087D-446C-98BB-010D9EDCA5F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9718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05A1F-087D-446C-98BB-010D9EDCA5F6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3788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05A1F-087D-446C-98BB-010D9EDCA5F6}" type="slidenum">
              <a:rPr lang="en-ZA" smtClean="0"/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9430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05A1F-087D-446C-98BB-010D9EDCA5F6}" type="slidenum">
              <a:rPr lang="en-ZA" smtClean="0"/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7951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05A1F-087D-446C-98BB-010D9EDCA5F6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9820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05A1F-087D-446C-98BB-010D9EDCA5F6}" type="slidenum">
              <a:rPr lang="en-ZA" smtClean="0"/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933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05A1F-087D-446C-98BB-010D9EDCA5F6}" type="slidenum">
              <a:rPr lang="en-ZA" smtClean="0"/>
              <a:t>36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6463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05A1F-087D-446C-98BB-010D9EDCA5F6}" type="slidenum">
              <a:rPr lang="en-ZA" smtClean="0"/>
              <a:t>38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3988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0E55B-D326-BC60-74FE-0334663CD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6A0926-23E4-9481-6773-F294E39F4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A6BF2-3715-1483-0426-7868A13C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664DA-013A-1C3F-1716-717076F1B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FEFFA-95F8-B5ED-CB51-EC8C0AB6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574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BE1AE-8518-B999-91CD-6E386A38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8A2A-EFB3-74D9-9697-9E5AE08EF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9904B-7969-219B-5A03-92A279FB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F1BB6-ACED-4609-234E-B95879AB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3B118-E6C0-5F32-6A7F-21FEFD32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144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5C0D-6AD2-3148-8BBF-D285B15CA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1F000-E6DF-7F20-4C63-4EE002ED6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288A7-12D2-3D1C-9D59-7955539B0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58654-FD1C-542A-D4AE-1242FA228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BB35D-21CA-9637-EE06-1752682B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2860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8B3F-DB5C-1A58-BFF2-69EEF4ADC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D1090-52EE-07EC-2CFB-01CC72DC3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5A55C-1528-AC9E-C179-62C6EEBE9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59F41-A7D4-B58D-35BC-2D63F225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1707C-9F62-7298-FBFF-A54A7A38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D94DB-8499-8E68-9422-85983A3AB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7041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D454-2EBE-FB8D-A864-A799F14B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96A13-5654-2AB8-224B-86304E0EA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061E3-D5A7-91CC-EA15-287869D87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43FDB-C9A2-CDC4-AC88-41E92EBC5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805D5-073E-0908-2556-CE9229FD4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6B43C-3708-AAC9-B9A6-E41F2DCE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EB241C-9BAC-8F5F-D41A-540B9CD6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1709AA-0694-E42F-3026-2BB67662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073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D615-0717-F937-F207-7D7FD9D48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A1521-ABC6-7B8E-90D6-A1B208987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D3EE9-A3AA-DD57-04CB-33C36B04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AB2E6-6F57-E25B-8993-DC8C0A945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3605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25B8F-7405-0E45-0C9D-F4606B16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11C241-5560-F5E6-D8C2-DD0CA041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C4615-AAEB-6216-B7EA-738B2672F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366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64E1E-D306-639F-17DC-336E2C2FD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A54F1-E3D8-B300-24D2-1FC05EEE7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6971A-3086-429B-ACE5-E85744033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5A4B5-5561-1CA2-9DC0-889C2D17B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6F3F7-7732-9E58-2D3F-E35A8193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37709-CA3D-7542-BEB2-CAA285A2C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3926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32827-B3F4-AA71-1F30-BBB080585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0DD94-BDDB-2828-0284-D9CB1AA7F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AC30D-6B87-459B-118A-8A967A60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F3B62-9B08-613F-D182-1BA7C0230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565BA-BD66-3701-2D47-3138168E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DF778-33ED-9938-A4B2-69D4145A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2475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1C95-91E9-5EBD-C549-9A8FF6D6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6D7C6-6A14-4EE1-6D56-E75454D90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5B595-A600-4355-4D3E-F8DD8386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D3951-D8A7-7C8E-F9F2-C27D5BD6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DD329-7FE2-5500-2EBF-1A202E7B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591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A3009-AA34-A334-E2C9-650045A4E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8010-71D3-97E9-63DF-1C100F789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B60AB-A412-CEC0-9D01-16357443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132CE-06AB-9BCF-18EA-A5E5441B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764F6-1442-B762-6964-B1D7CE18D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959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A53AD7-829C-56DF-73DB-52D90F066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B0684-8420-3C26-3933-A9258849E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DD1C-3E96-7162-C210-281C071E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7B408-EAD6-494C-AB34-AD9721C69B0C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A815F-9FB3-83AF-E88C-E385A2644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3A922-C3E5-B547-3F1C-A246692C2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06000-90C7-42D3-9C52-C1D5EFBAAE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7771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ACBCCA-CBD5-92E5-D898-993271833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ZA" sz="5400"/>
              <a:t>Introduction to 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54F27-78BB-2EBA-A0BD-B1256069B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ZA" dirty="0"/>
              <a:t>Tutorial with Mr O Salelo</a:t>
            </a:r>
            <a:endParaRPr lang="en-ZA"/>
          </a:p>
        </p:txBody>
      </p:sp>
      <p:pic>
        <p:nvPicPr>
          <p:cNvPr id="5" name="Picture 4" descr="Hand holding a pen shading number on a sheet">
            <a:extLst>
              <a:ext uri="{FF2B5EF4-FFF2-40B4-BE49-F238E27FC236}">
                <a16:creationId xmlns:a16="http://schemas.microsoft.com/office/drawing/2014/main" id="{F7334A63-4D08-7C2B-F32B-4500FBFAD5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49" r="4020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7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032AF-6A95-CFE7-429B-4ECB6823B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What is an Array?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1A029-818B-21AC-3B8E-88FB95DC2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/>
              <a:t>It is a collection/sequence of a fixed number of variables, called elements, all of the same data type.</a:t>
            </a:r>
          </a:p>
          <a:p>
            <a:pPr marL="0" indent="0">
              <a:buNone/>
            </a:pPr>
            <a:r>
              <a:rPr lang="en-ZA" sz="2200" b="1"/>
              <a:t>If I want to store the marks of 5 students, how could I do it?</a:t>
            </a:r>
          </a:p>
          <a:p>
            <a:pPr marL="0" indent="0">
              <a:buNone/>
            </a:pPr>
            <a:r>
              <a:rPr lang="en-ZA" sz="2200"/>
              <a:t>Back in first year, I would write:</a:t>
            </a:r>
          </a:p>
          <a:p>
            <a:pPr marL="0" indent="0">
              <a:buNone/>
            </a:pPr>
            <a:r>
              <a:rPr lang="de-DE" sz="2200"/>
              <a:t>int mark1 = 70;</a:t>
            </a:r>
          </a:p>
          <a:p>
            <a:pPr marL="0" indent="0">
              <a:buNone/>
            </a:pPr>
            <a:r>
              <a:rPr lang="de-DE" sz="2200"/>
              <a:t>int mark2 = 65;</a:t>
            </a:r>
          </a:p>
          <a:p>
            <a:pPr marL="0" indent="0">
              <a:buNone/>
            </a:pPr>
            <a:r>
              <a:rPr lang="de-DE" sz="2200"/>
              <a:t>int mark3 = 80;</a:t>
            </a:r>
          </a:p>
          <a:p>
            <a:pPr marL="0" indent="0">
              <a:buNone/>
            </a:pPr>
            <a:r>
              <a:rPr lang="de-DE" sz="2200"/>
              <a:t>int mark4 = 55;</a:t>
            </a:r>
          </a:p>
          <a:p>
            <a:pPr marL="0" indent="0">
              <a:buNone/>
            </a:pPr>
            <a:r>
              <a:rPr lang="de-DE" sz="2200"/>
              <a:t>int mark5 = 90;</a:t>
            </a:r>
          </a:p>
          <a:p>
            <a:pPr marL="0" indent="0">
              <a:buNone/>
            </a:pPr>
            <a:r>
              <a:rPr lang="en-ZA" sz="2200"/>
              <a:t>That's possible, but imagine we have </a:t>
            </a:r>
            <a:r>
              <a:rPr lang="en-ZA" sz="2200" b="1"/>
              <a:t>100 students</a:t>
            </a:r>
            <a:r>
              <a:rPr lang="en-ZA" sz="2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7330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164D6-0C75-4410-1CAD-D6EA2B414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 dirty="0"/>
              <a:t>Search &amp; Sort Algorithms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5EE2-A830-EC64-3106-CC41A0402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/>
              <a:t>What Is an Algorithm?</a:t>
            </a:r>
          </a:p>
          <a:p>
            <a:pPr marL="0" indent="0">
              <a:buNone/>
            </a:pPr>
            <a:r>
              <a:rPr lang="en-ZA" sz="2200"/>
              <a:t>An algorithm is simply a </a:t>
            </a:r>
            <a:r>
              <a:rPr lang="en-ZA" sz="2200" b="1"/>
              <a:t>step-by-step procedure used to solve a problem</a:t>
            </a:r>
            <a:r>
              <a:rPr lang="en-ZA" sz="2200"/>
              <a:t>.</a:t>
            </a:r>
          </a:p>
          <a:p>
            <a:pPr marL="0" indent="0">
              <a:buNone/>
            </a:pPr>
            <a:r>
              <a:rPr lang="en-ZA" sz="2200"/>
              <a:t>Suppose we are given:</a:t>
            </a:r>
            <a:br>
              <a:rPr lang="en-ZA" sz="2200"/>
            </a:br>
            <a:r>
              <a:rPr lang="en-ZA" sz="2200"/>
              <a:t>10  25  7  40  15</a:t>
            </a:r>
          </a:p>
          <a:p>
            <a:pPr marL="0" indent="0">
              <a:buNone/>
            </a:pPr>
            <a:r>
              <a:rPr lang="en-ZA" sz="2200"/>
              <a:t>And we ask to find 40.</a:t>
            </a:r>
          </a:p>
          <a:p>
            <a:pPr marL="0" indent="0">
              <a:buNone/>
            </a:pPr>
            <a:r>
              <a:rPr lang="en-ZA" sz="2200"/>
              <a:t>Thina we can just quickly look through the values.</a:t>
            </a:r>
          </a:p>
          <a:p>
            <a:pPr marL="0" indent="0">
              <a:buNone/>
            </a:pPr>
            <a:r>
              <a:rPr lang="en-ZA" sz="2200"/>
              <a:t>But a computer needs </a:t>
            </a:r>
            <a:r>
              <a:rPr lang="en-ZA" sz="2200" b="1"/>
              <a:t>instructions</a:t>
            </a:r>
            <a:r>
              <a:rPr lang="en-ZA" sz="2200"/>
              <a:t> telling it exactly how to search.</a:t>
            </a:r>
          </a:p>
          <a:p>
            <a:pPr marL="0" indent="0">
              <a:buNone/>
            </a:pPr>
            <a:r>
              <a:rPr lang="en-ZA" sz="2200"/>
              <a:t>That's where a </a:t>
            </a:r>
            <a:r>
              <a:rPr lang="en-ZA" sz="2200" b="1"/>
              <a:t>search algorithm</a:t>
            </a:r>
            <a:r>
              <a:rPr lang="en-ZA" sz="2200"/>
              <a:t> comes in.</a:t>
            </a:r>
          </a:p>
          <a:p>
            <a:pPr marL="0" indent="0">
              <a:buNone/>
            </a:pPr>
            <a:endParaRPr lang="en-ZA" sz="2200"/>
          </a:p>
        </p:txBody>
      </p:sp>
    </p:spTree>
    <p:extLst>
      <p:ext uri="{BB962C8B-B14F-4D97-AF65-F5344CB8AC3E}">
        <p14:creationId xmlns:p14="http://schemas.microsoft.com/office/powerpoint/2010/main" val="396233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BA0EE-DBEE-583C-9147-7110F03A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What Is Searching?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5C58A-9DC7-8932-3DA6-1FFFA6A81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/>
              <a:t>Is finding a particular value inside a data structure such as an array.</a:t>
            </a:r>
          </a:p>
          <a:p>
            <a:pPr marL="0" indent="0">
              <a:buNone/>
            </a:pPr>
            <a:r>
              <a:rPr lang="en-ZA" sz="2200"/>
              <a:t>For example:</a:t>
            </a:r>
            <a:br>
              <a:rPr lang="en-ZA" sz="2200"/>
            </a:br>
            <a:r>
              <a:rPr lang="en-ZA" sz="2200"/>
              <a:t>int[] numbers = {10, 25, 7, 40, 15};</a:t>
            </a:r>
          </a:p>
          <a:p>
            <a:pPr marL="0" indent="0">
              <a:buNone/>
            </a:pPr>
            <a:r>
              <a:rPr lang="en-ZA" sz="2200"/>
              <a:t>Let’s say we are looking for 40.</a:t>
            </a:r>
          </a:p>
          <a:p>
            <a:pPr marL="0" indent="0">
              <a:buNone/>
            </a:pPr>
            <a:r>
              <a:rPr lang="en-ZA" sz="2200"/>
              <a:t>The search will tell us:</a:t>
            </a:r>
            <a:br>
              <a:rPr lang="en-ZA" sz="2200"/>
            </a:br>
            <a:r>
              <a:rPr lang="en-ZA" sz="2200"/>
              <a:t>40 is at index 3</a:t>
            </a:r>
          </a:p>
        </p:txBody>
      </p:sp>
    </p:spTree>
    <p:extLst>
      <p:ext uri="{BB962C8B-B14F-4D97-AF65-F5344CB8AC3E}">
        <p14:creationId xmlns:p14="http://schemas.microsoft.com/office/powerpoint/2010/main" val="223802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40663-A66A-61B3-CA78-163260F1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ZA" sz="5000"/>
              <a:t>Two Search Algorithms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9D8BF-8818-0B91-27D7-CA40F54C2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ZA" sz="2200"/>
              <a:t>Linear Search / Sequential Search </a:t>
            </a:r>
          </a:p>
          <a:p>
            <a:pPr marL="0" indent="0">
              <a:buNone/>
            </a:pPr>
            <a:r>
              <a:rPr lang="en-ZA" sz="2200"/>
              <a:t>Binary Search / Half Interval Search</a:t>
            </a:r>
          </a:p>
          <a:p>
            <a:pPr marL="0" indent="0">
              <a:buNone/>
            </a:pPr>
            <a:endParaRPr lang="en-ZA" sz="22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81E784-6670-0F85-627A-AAAF6E8C4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063583"/>
              </p:ext>
            </p:extLst>
          </p:nvPr>
        </p:nvGraphicFramePr>
        <p:xfrm>
          <a:off x="6099048" y="1945267"/>
          <a:ext cx="5458969" cy="29674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9771">
                  <a:extLst>
                    <a:ext uri="{9D8B030D-6E8A-4147-A177-3AD203B41FA5}">
                      <a16:colId xmlns:a16="http://schemas.microsoft.com/office/drawing/2014/main" val="4286827647"/>
                    </a:ext>
                  </a:extLst>
                </a:gridCol>
                <a:gridCol w="2829198">
                  <a:extLst>
                    <a:ext uri="{9D8B030D-6E8A-4147-A177-3AD203B41FA5}">
                      <a16:colId xmlns:a16="http://schemas.microsoft.com/office/drawing/2014/main" val="2114392199"/>
                    </a:ext>
                  </a:extLst>
                </a:gridCol>
              </a:tblGrid>
              <a:tr h="421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900" b="1"/>
                        <a:t>Linear Search</a:t>
                      </a:r>
                    </a:p>
                  </a:txBody>
                  <a:tcPr marL="95725" marR="95725" marT="47862" marB="478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900" b="1" dirty="0"/>
                        <a:t>Binary Search</a:t>
                      </a:r>
                    </a:p>
                  </a:txBody>
                  <a:tcPr marL="95725" marR="95725" marT="47862" marB="47862" anchor="ctr"/>
                </a:tc>
                <a:extLst>
                  <a:ext uri="{0D108BD9-81ED-4DB2-BD59-A6C34878D82A}">
                    <a16:rowId xmlns:a16="http://schemas.microsoft.com/office/drawing/2014/main" val="3112654940"/>
                  </a:ext>
                </a:extLst>
              </a:tr>
              <a:tr h="708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900"/>
                        <a:t>Checks elements one by one</a:t>
                      </a:r>
                    </a:p>
                  </a:txBody>
                  <a:tcPr marL="95725" marR="95725" marT="47862" marB="478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900"/>
                        <a:t>Checks the middle</a:t>
                      </a:r>
                    </a:p>
                  </a:txBody>
                  <a:tcPr marL="95725" marR="95725" marT="47862" marB="47862" anchor="ctr"/>
                </a:tc>
                <a:extLst>
                  <a:ext uri="{0D108BD9-81ED-4DB2-BD59-A6C34878D82A}">
                    <a16:rowId xmlns:a16="http://schemas.microsoft.com/office/drawing/2014/main" val="2682547117"/>
                  </a:ext>
                </a:extLst>
              </a:tr>
              <a:tr h="708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900"/>
                        <a:t>Does not require sorting</a:t>
                      </a:r>
                    </a:p>
                  </a:txBody>
                  <a:tcPr marL="95725" marR="95725" marT="47862" marB="478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900"/>
                        <a:t>Requires a sorted array</a:t>
                      </a:r>
                    </a:p>
                  </a:txBody>
                  <a:tcPr marL="95725" marR="95725" marT="47862" marB="47862" anchor="ctr"/>
                </a:tc>
                <a:extLst>
                  <a:ext uri="{0D108BD9-81ED-4DB2-BD59-A6C34878D82A}">
                    <a16:rowId xmlns:a16="http://schemas.microsoft.com/office/drawing/2014/main" val="703124230"/>
                  </a:ext>
                </a:extLst>
              </a:tr>
              <a:tr h="708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900"/>
                        <a:t>Simple</a:t>
                      </a:r>
                    </a:p>
                  </a:txBody>
                  <a:tcPr marL="95725" marR="95725" marT="47862" marB="478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900"/>
                        <a:t>More efficient for large sorted arrays</a:t>
                      </a:r>
                    </a:p>
                  </a:txBody>
                  <a:tcPr marL="95725" marR="95725" marT="47862" marB="47862" anchor="ctr"/>
                </a:tc>
                <a:extLst>
                  <a:ext uri="{0D108BD9-81ED-4DB2-BD59-A6C34878D82A}">
                    <a16:rowId xmlns:a16="http://schemas.microsoft.com/office/drawing/2014/main" val="438912441"/>
                  </a:ext>
                </a:extLst>
              </a:tr>
              <a:tr h="421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900"/>
                        <a:t>O(n)</a:t>
                      </a:r>
                    </a:p>
                  </a:txBody>
                  <a:tcPr marL="95725" marR="95725" marT="47862" marB="478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900" dirty="0"/>
                        <a:t>O(log n)</a:t>
                      </a:r>
                    </a:p>
                  </a:txBody>
                  <a:tcPr marL="95725" marR="95725" marT="47862" marB="47862" anchor="ctr"/>
                </a:tc>
                <a:extLst>
                  <a:ext uri="{0D108BD9-81ED-4DB2-BD59-A6C34878D82A}">
                    <a16:rowId xmlns:a16="http://schemas.microsoft.com/office/drawing/2014/main" val="44288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137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1C3C4-A92C-8BB1-4E04-88F769F30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ZA" sz="5400"/>
              <a:t>Linear Search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67D9-0F1E-5D4F-8F37-DA5BD5F66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ZA" sz="1200"/>
              <a:t>What Is Linear Search?</a:t>
            </a:r>
          </a:p>
          <a:p>
            <a:pPr marL="0" indent="0">
              <a:buNone/>
            </a:pPr>
            <a:r>
              <a:rPr lang="en-ZA" sz="1200"/>
              <a:t>Key = 43</a:t>
            </a:r>
          </a:p>
          <a:p>
            <a:pPr marL="0" indent="0">
              <a:buNone/>
            </a:pPr>
            <a:endParaRPr lang="en-ZA" sz="1200"/>
          </a:p>
          <a:p>
            <a:pPr marL="0" indent="0">
              <a:buNone/>
            </a:pPr>
            <a:endParaRPr lang="en-ZA" sz="1200"/>
          </a:p>
          <a:p>
            <a:pPr marL="0" indent="0">
              <a:buNone/>
            </a:pPr>
            <a:r>
              <a:rPr lang="en-ZA" sz="1200"/>
              <a:t>Step 1:</a:t>
            </a:r>
          </a:p>
          <a:p>
            <a:pPr marL="0" indent="0">
              <a:buNone/>
            </a:pPr>
            <a:r>
              <a:rPr lang="en-ZA" sz="1200"/>
              <a:t>56 == 43</a:t>
            </a:r>
          </a:p>
          <a:p>
            <a:pPr marL="0" indent="0">
              <a:buNone/>
            </a:pPr>
            <a:r>
              <a:rPr lang="en-ZA" sz="1200"/>
              <a:t>Step 2:</a:t>
            </a:r>
          </a:p>
          <a:p>
            <a:pPr marL="0" indent="0">
              <a:buNone/>
            </a:pPr>
            <a:r>
              <a:rPr lang="en-ZA" sz="1200"/>
              <a:t>4 == 43</a:t>
            </a:r>
          </a:p>
          <a:p>
            <a:pPr marL="0" indent="0">
              <a:buNone/>
            </a:pPr>
            <a:r>
              <a:rPr lang="en-ZA" sz="1200"/>
              <a:t>Step 3:</a:t>
            </a:r>
          </a:p>
          <a:p>
            <a:pPr marL="0" indent="0">
              <a:buNone/>
            </a:pPr>
            <a:r>
              <a:rPr lang="en-ZA" sz="1200"/>
              <a:t>6 == 43</a:t>
            </a:r>
          </a:p>
          <a:p>
            <a:pPr marL="0" indent="0">
              <a:buNone/>
            </a:pPr>
            <a:r>
              <a:rPr lang="en-ZA" sz="1200"/>
              <a:t>Step 4:</a:t>
            </a:r>
          </a:p>
          <a:p>
            <a:pPr marL="0" indent="0">
              <a:buNone/>
            </a:pPr>
            <a:r>
              <a:rPr lang="en-ZA" sz="1200"/>
              <a:t>43 == 43</a:t>
            </a:r>
          </a:p>
          <a:p>
            <a:pPr marL="0" indent="0">
              <a:buNone/>
            </a:pPr>
            <a:endParaRPr lang="en-ZA" sz="1200"/>
          </a:p>
          <a:p>
            <a:pPr marL="0" indent="0">
              <a:buNone/>
            </a:pPr>
            <a:endParaRPr lang="en-ZA" sz="1200"/>
          </a:p>
          <a:p>
            <a:pPr marL="0" indent="0">
              <a:buNone/>
            </a:pPr>
            <a:endParaRPr lang="en-ZA" sz="1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4CD4A6-D32B-43B0-B0E6-11571D830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237067"/>
              </p:ext>
            </p:extLst>
          </p:nvPr>
        </p:nvGraphicFramePr>
        <p:xfrm>
          <a:off x="6099048" y="2795055"/>
          <a:ext cx="5458971" cy="12678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6749">
                  <a:extLst>
                    <a:ext uri="{9D8B030D-6E8A-4147-A177-3AD203B41FA5}">
                      <a16:colId xmlns:a16="http://schemas.microsoft.com/office/drawing/2014/main" val="3563275879"/>
                    </a:ext>
                  </a:extLst>
                </a:gridCol>
                <a:gridCol w="896488">
                  <a:extLst>
                    <a:ext uri="{9D8B030D-6E8A-4147-A177-3AD203B41FA5}">
                      <a16:colId xmlns:a16="http://schemas.microsoft.com/office/drawing/2014/main" val="3593763919"/>
                    </a:ext>
                  </a:extLst>
                </a:gridCol>
                <a:gridCol w="696379">
                  <a:extLst>
                    <a:ext uri="{9D8B030D-6E8A-4147-A177-3AD203B41FA5}">
                      <a16:colId xmlns:a16="http://schemas.microsoft.com/office/drawing/2014/main" val="3039193004"/>
                    </a:ext>
                  </a:extLst>
                </a:gridCol>
                <a:gridCol w="696379">
                  <a:extLst>
                    <a:ext uri="{9D8B030D-6E8A-4147-A177-3AD203B41FA5}">
                      <a16:colId xmlns:a16="http://schemas.microsoft.com/office/drawing/2014/main" val="1657694828"/>
                    </a:ext>
                  </a:extLst>
                </a:gridCol>
                <a:gridCol w="896488">
                  <a:extLst>
                    <a:ext uri="{9D8B030D-6E8A-4147-A177-3AD203B41FA5}">
                      <a16:colId xmlns:a16="http://schemas.microsoft.com/office/drawing/2014/main" val="2154142557"/>
                    </a:ext>
                  </a:extLst>
                </a:gridCol>
                <a:gridCol w="896488">
                  <a:extLst>
                    <a:ext uri="{9D8B030D-6E8A-4147-A177-3AD203B41FA5}">
                      <a16:colId xmlns:a16="http://schemas.microsoft.com/office/drawing/2014/main" val="2396532596"/>
                    </a:ext>
                  </a:extLst>
                </a:gridCol>
              </a:tblGrid>
              <a:tr h="633945">
                <a:tc>
                  <a:txBody>
                    <a:bodyPr/>
                    <a:lstStyle/>
                    <a:p>
                      <a:r>
                        <a:rPr lang="en-ZA" sz="2800"/>
                        <a:t>Index</a:t>
                      </a:r>
                    </a:p>
                  </a:txBody>
                  <a:tcPr marL="144078" marR="144078" marT="72039" marB="72039"/>
                </a:tc>
                <a:tc>
                  <a:txBody>
                    <a:bodyPr/>
                    <a:lstStyle/>
                    <a:p>
                      <a:r>
                        <a:rPr lang="en-ZA" sz="2800"/>
                        <a:t>0</a:t>
                      </a:r>
                    </a:p>
                  </a:txBody>
                  <a:tcPr marL="144078" marR="144078" marT="72039" marB="72039"/>
                </a:tc>
                <a:tc>
                  <a:txBody>
                    <a:bodyPr/>
                    <a:lstStyle/>
                    <a:p>
                      <a:r>
                        <a:rPr lang="en-ZA" sz="2800"/>
                        <a:t>1</a:t>
                      </a:r>
                    </a:p>
                  </a:txBody>
                  <a:tcPr marL="144078" marR="144078" marT="72039" marB="72039"/>
                </a:tc>
                <a:tc>
                  <a:txBody>
                    <a:bodyPr/>
                    <a:lstStyle/>
                    <a:p>
                      <a:r>
                        <a:rPr lang="en-ZA" sz="2800" dirty="0"/>
                        <a:t>2</a:t>
                      </a:r>
                    </a:p>
                  </a:txBody>
                  <a:tcPr marL="144078" marR="144078" marT="72039" marB="72039"/>
                </a:tc>
                <a:tc>
                  <a:txBody>
                    <a:bodyPr/>
                    <a:lstStyle/>
                    <a:p>
                      <a:r>
                        <a:rPr lang="en-ZA" sz="2800"/>
                        <a:t>3</a:t>
                      </a:r>
                    </a:p>
                  </a:txBody>
                  <a:tcPr marL="144078" marR="144078" marT="72039" marB="72039"/>
                </a:tc>
                <a:tc>
                  <a:txBody>
                    <a:bodyPr/>
                    <a:lstStyle/>
                    <a:p>
                      <a:r>
                        <a:rPr lang="en-ZA" sz="2800"/>
                        <a:t>4</a:t>
                      </a:r>
                    </a:p>
                  </a:txBody>
                  <a:tcPr marL="144078" marR="144078" marT="72039" marB="72039"/>
                </a:tc>
                <a:extLst>
                  <a:ext uri="{0D108BD9-81ED-4DB2-BD59-A6C34878D82A}">
                    <a16:rowId xmlns:a16="http://schemas.microsoft.com/office/drawing/2014/main" val="734010296"/>
                  </a:ext>
                </a:extLst>
              </a:tr>
              <a:tr h="633945">
                <a:tc>
                  <a:txBody>
                    <a:bodyPr/>
                    <a:lstStyle/>
                    <a:p>
                      <a:r>
                        <a:rPr lang="en-ZA" sz="2800"/>
                        <a:t>Array</a:t>
                      </a:r>
                    </a:p>
                  </a:txBody>
                  <a:tcPr marL="144078" marR="144078" marT="72039" marB="72039"/>
                </a:tc>
                <a:tc>
                  <a:txBody>
                    <a:bodyPr/>
                    <a:lstStyle/>
                    <a:p>
                      <a:r>
                        <a:rPr lang="en-ZA" sz="2800"/>
                        <a:t>56</a:t>
                      </a:r>
                    </a:p>
                  </a:txBody>
                  <a:tcPr marL="144078" marR="144078" marT="72039" marB="72039"/>
                </a:tc>
                <a:tc>
                  <a:txBody>
                    <a:bodyPr/>
                    <a:lstStyle/>
                    <a:p>
                      <a:r>
                        <a:rPr lang="en-ZA" sz="2800"/>
                        <a:t>4</a:t>
                      </a:r>
                    </a:p>
                  </a:txBody>
                  <a:tcPr marL="144078" marR="144078" marT="72039" marB="72039"/>
                </a:tc>
                <a:tc>
                  <a:txBody>
                    <a:bodyPr/>
                    <a:lstStyle/>
                    <a:p>
                      <a:r>
                        <a:rPr lang="en-ZA" sz="2800" dirty="0"/>
                        <a:t>6</a:t>
                      </a:r>
                    </a:p>
                  </a:txBody>
                  <a:tcPr marL="144078" marR="144078" marT="72039" marB="72039"/>
                </a:tc>
                <a:tc>
                  <a:txBody>
                    <a:bodyPr/>
                    <a:lstStyle/>
                    <a:p>
                      <a:r>
                        <a:rPr lang="en-ZA" sz="2800"/>
                        <a:t>43</a:t>
                      </a:r>
                    </a:p>
                  </a:txBody>
                  <a:tcPr marL="144078" marR="144078" marT="72039" marB="72039"/>
                </a:tc>
                <a:tc>
                  <a:txBody>
                    <a:bodyPr/>
                    <a:lstStyle/>
                    <a:p>
                      <a:r>
                        <a:rPr lang="en-ZA" sz="2800" dirty="0"/>
                        <a:t>24</a:t>
                      </a:r>
                    </a:p>
                  </a:txBody>
                  <a:tcPr marL="144078" marR="144078" marT="72039" marB="72039"/>
                </a:tc>
                <a:extLst>
                  <a:ext uri="{0D108BD9-81ED-4DB2-BD59-A6C34878D82A}">
                    <a16:rowId xmlns:a16="http://schemas.microsoft.com/office/drawing/2014/main" val="3905273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509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2B99F1-B2DC-437E-A8A1-A57F2F29F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684398"/>
            <a:ext cx="11167447" cy="5206040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E91EE-548D-9660-974A-5992CCF3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1092857"/>
            <a:ext cx="3669704" cy="4389120"/>
          </a:xfrm>
        </p:spPr>
        <p:txBody>
          <a:bodyPr>
            <a:normAutofit/>
          </a:bodyPr>
          <a:lstStyle/>
          <a:p>
            <a:r>
              <a:rPr lang="en-ZA" sz="4000" dirty="0"/>
              <a:t>Linear Search…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93537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1BEC8-096B-BE31-482F-7F6C08603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679" y="1092857"/>
            <a:ext cx="5670087" cy="43891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ZA" sz="2000" dirty="0"/>
              <a:t>public int </a:t>
            </a:r>
            <a:r>
              <a:rPr lang="en-ZA" sz="2000" dirty="0" err="1"/>
              <a:t>linearSearch</a:t>
            </a:r>
            <a:r>
              <a:rPr lang="en-ZA" sz="2000" dirty="0"/>
              <a:t>(int[] array, int </a:t>
            </a:r>
            <a:r>
              <a:rPr lang="en-ZA" sz="2000" dirty="0" err="1"/>
              <a:t>searchItem</a:t>
            </a:r>
            <a:r>
              <a:rPr lang="en-ZA" sz="2000" dirty="0"/>
              <a:t>) {</a:t>
            </a:r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r>
              <a:rPr lang="en-ZA" sz="2000" dirty="0"/>
              <a:t>    for (int </a:t>
            </a:r>
            <a:r>
              <a:rPr lang="en-ZA" sz="2000" dirty="0" err="1"/>
              <a:t>i</a:t>
            </a:r>
            <a:r>
              <a:rPr lang="en-ZA" sz="2000" dirty="0"/>
              <a:t> = 0; </a:t>
            </a:r>
            <a:r>
              <a:rPr lang="en-ZA" sz="2000" dirty="0" err="1"/>
              <a:t>i</a:t>
            </a:r>
            <a:r>
              <a:rPr lang="en-ZA" sz="2000" dirty="0"/>
              <a:t> &lt; </a:t>
            </a:r>
            <a:r>
              <a:rPr lang="en-ZA" sz="2000" dirty="0" err="1"/>
              <a:t>array.length</a:t>
            </a:r>
            <a:r>
              <a:rPr lang="en-ZA" sz="2000" dirty="0"/>
              <a:t>; </a:t>
            </a:r>
            <a:r>
              <a:rPr lang="en-ZA" sz="2000" dirty="0" err="1"/>
              <a:t>i</a:t>
            </a:r>
            <a:r>
              <a:rPr lang="en-ZA" sz="2000" dirty="0"/>
              <a:t>++) {</a:t>
            </a:r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r>
              <a:rPr lang="en-ZA" sz="2000" dirty="0"/>
              <a:t>        if (array[</a:t>
            </a:r>
            <a:r>
              <a:rPr lang="en-ZA" sz="2000" dirty="0" err="1"/>
              <a:t>i</a:t>
            </a:r>
            <a:r>
              <a:rPr lang="en-ZA" sz="2000" dirty="0"/>
              <a:t>] == </a:t>
            </a:r>
            <a:r>
              <a:rPr lang="en-ZA" sz="2000" dirty="0" err="1"/>
              <a:t>searchItem</a:t>
            </a:r>
            <a:r>
              <a:rPr lang="en-ZA" sz="2000" dirty="0"/>
              <a:t>) {</a:t>
            </a:r>
          </a:p>
          <a:p>
            <a:pPr marL="0" indent="0">
              <a:buNone/>
            </a:pPr>
            <a:r>
              <a:rPr lang="en-ZA" sz="2000" dirty="0"/>
              <a:t>            return </a:t>
            </a:r>
            <a:r>
              <a:rPr lang="en-ZA" sz="2000" dirty="0" err="1"/>
              <a:t>i</a:t>
            </a:r>
            <a:r>
              <a:rPr lang="en-ZA" sz="2000" dirty="0"/>
              <a:t>;</a:t>
            </a:r>
          </a:p>
          <a:p>
            <a:pPr marL="0" indent="0">
              <a:buNone/>
            </a:pPr>
            <a:r>
              <a:rPr lang="en-ZA" sz="2000" dirty="0"/>
              <a:t>        }</a:t>
            </a:r>
          </a:p>
          <a:p>
            <a:pPr marL="0" indent="0">
              <a:buNone/>
            </a:pPr>
            <a:r>
              <a:rPr lang="en-ZA" sz="2000" dirty="0"/>
              <a:t>    }</a:t>
            </a:r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r>
              <a:rPr lang="en-ZA" sz="2000" dirty="0"/>
              <a:t>    return -1;</a:t>
            </a:r>
          </a:p>
          <a:p>
            <a:pPr marL="0" indent="0">
              <a:buNone/>
            </a:pPr>
            <a:r>
              <a:rPr lang="en-ZA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3303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89A75-C5CA-9439-F690-790F3CEBC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Best, Average and Worst Case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0431D-538B-B746-08E4-0830DCFBE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/>
              <a:t>This is where </a:t>
            </a:r>
            <a:r>
              <a:rPr lang="en-ZA" sz="2200" b="1"/>
              <a:t>asymptotic notation</a:t>
            </a:r>
            <a:r>
              <a:rPr lang="en-ZA" sz="2200"/>
              <a:t> comes in.</a:t>
            </a:r>
          </a:p>
          <a:p>
            <a:pPr marL="0" indent="0">
              <a:buNone/>
            </a:pPr>
            <a:r>
              <a:rPr lang="en-ZA" sz="2200"/>
              <a:t>Let’s say we have this array:</a:t>
            </a:r>
            <a:br>
              <a:rPr lang="en-ZA" sz="2200"/>
            </a:br>
            <a:r>
              <a:rPr lang="en-ZA" sz="2200"/>
              <a:t>int[] numbers = {50, 99, 23, 76, 90, 41};</a:t>
            </a:r>
          </a:p>
          <a:p>
            <a:pPr marL="0" indent="0">
              <a:buNone/>
            </a:pPr>
            <a:r>
              <a:rPr lang="en-ZA" sz="2200"/>
              <a:t>If the value we're looking for is the FIRST element, how many comparisons do we need?</a:t>
            </a:r>
          </a:p>
          <a:p>
            <a:pPr marL="0" indent="0">
              <a:buNone/>
            </a:pPr>
            <a:endParaRPr lang="en-ZA" sz="2200"/>
          </a:p>
        </p:txBody>
      </p:sp>
    </p:spTree>
    <p:extLst>
      <p:ext uri="{BB962C8B-B14F-4D97-AF65-F5344CB8AC3E}">
        <p14:creationId xmlns:p14="http://schemas.microsoft.com/office/powerpoint/2010/main" val="388345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E58C6-DC11-08E0-DF45-EFB2A4504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Best Case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3504F-1858-53BE-C489-7B522823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 dirty="0"/>
              <a:t>We have this array:</a:t>
            </a:r>
            <a:br>
              <a:rPr lang="en-ZA" sz="2200" dirty="0"/>
            </a:br>
            <a:r>
              <a:rPr lang="en-ZA" sz="2200" dirty="0"/>
              <a:t>10 20 30 40 50</a:t>
            </a:r>
          </a:p>
          <a:p>
            <a:pPr marL="0" indent="0">
              <a:buNone/>
            </a:pPr>
            <a:r>
              <a:rPr lang="en-ZA" sz="2200" dirty="0"/>
              <a:t>We are searching for 10, and we only found out that 10 is the first element.</a:t>
            </a:r>
          </a:p>
          <a:p>
            <a:pPr marL="0" indent="0">
              <a:buNone/>
            </a:pPr>
            <a:r>
              <a:rPr lang="en-ZA" sz="2200" dirty="0"/>
              <a:t>Since 10 is the first element, we only did one comparison.</a:t>
            </a:r>
          </a:p>
          <a:p>
            <a:pPr marL="0" indent="0">
              <a:buNone/>
            </a:pPr>
            <a:r>
              <a:rPr lang="en-ZA" sz="2200" dirty="0"/>
              <a:t>One comparison is </a:t>
            </a:r>
            <a:r>
              <a:rPr lang="en-ZA" sz="2200" b="1" dirty="0"/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31258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E5404-E50B-0719-DF11-BD653C4FA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Worst Case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17FD9-F4B9-82BB-4B93-C767CD1A1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 dirty="0"/>
              <a:t>We have this array:</a:t>
            </a:r>
            <a:br>
              <a:rPr lang="en-ZA" sz="2200" dirty="0"/>
            </a:br>
            <a:r>
              <a:rPr lang="en-ZA" sz="2200" dirty="0"/>
              <a:t>10 20 30 40 50</a:t>
            </a:r>
          </a:p>
          <a:p>
            <a:pPr marL="0" indent="0">
              <a:buNone/>
            </a:pPr>
            <a:r>
              <a:rPr lang="en-ZA" sz="2200" dirty="0"/>
              <a:t>We are searching for 50, and we only found out that 50 is the last element.</a:t>
            </a:r>
          </a:p>
          <a:p>
            <a:pPr marL="0" indent="0">
              <a:buNone/>
            </a:pPr>
            <a:r>
              <a:rPr lang="en-ZA" sz="2200" dirty="0"/>
              <a:t>Since 50 is the last element, we compare with each element until we find it in the last element.</a:t>
            </a:r>
          </a:p>
          <a:p>
            <a:pPr marL="0" indent="0">
              <a:buNone/>
            </a:pPr>
            <a:r>
              <a:rPr lang="en-ZA" sz="2200" dirty="0"/>
              <a:t>Worst Case = </a:t>
            </a:r>
            <a:r>
              <a:rPr lang="en-ZA" sz="2200" b="1" dirty="0"/>
              <a:t>O(n)</a:t>
            </a:r>
          </a:p>
          <a:p>
            <a:pPr marL="0" indent="0">
              <a:buNone/>
            </a:pPr>
            <a:r>
              <a:rPr lang="en-ZA" sz="2200" dirty="0"/>
              <a:t>It’s only the worst case when the element is the last one or is not in the array.</a:t>
            </a:r>
          </a:p>
        </p:txBody>
      </p:sp>
    </p:spTree>
    <p:extLst>
      <p:ext uri="{BB962C8B-B14F-4D97-AF65-F5344CB8AC3E}">
        <p14:creationId xmlns:p14="http://schemas.microsoft.com/office/powerpoint/2010/main" val="453494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31AAF2-652B-2415-EED3-E9DE19EE5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Average Case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1C8A8-16FF-32DA-FD4E-3D2AE9F7F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 dirty="0"/>
              <a:t>We have this array:</a:t>
            </a:r>
            <a:br>
              <a:rPr lang="en-ZA" sz="2200" dirty="0"/>
            </a:br>
            <a:r>
              <a:rPr lang="en-ZA" sz="2200" dirty="0"/>
              <a:t>10 20 30 40 50</a:t>
            </a:r>
          </a:p>
          <a:p>
            <a:pPr marL="0" indent="0">
              <a:buNone/>
            </a:pPr>
            <a:r>
              <a:rPr lang="en-ZA" sz="2200" dirty="0"/>
              <a:t>We are searching for 30, which is </a:t>
            </a:r>
            <a:r>
              <a:rPr lang="en-ZA" sz="2200" b="1" i="1" dirty="0"/>
              <a:t>somewhere </a:t>
            </a:r>
            <a:r>
              <a:rPr lang="en-ZA" sz="2200" dirty="0"/>
              <a:t>in the middle.</a:t>
            </a:r>
          </a:p>
          <a:p>
            <a:pPr marL="0" indent="0">
              <a:buNone/>
            </a:pPr>
            <a:r>
              <a:rPr lang="en-ZA" sz="2200" dirty="0"/>
              <a:t>It took n/2 comparisons.</a:t>
            </a:r>
          </a:p>
          <a:p>
            <a:pPr marL="0" indent="0">
              <a:buNone/>
            </a:pPr>
            <a:r>
              <a:rPr lang="en-ZA" sz="2200" dirty="0"/>
              <a:t>So on average, when the element could be anywhere in the array, we expect to check </a:t>
            </a:r>
            <a:r>
              <a:rPr lang="en-ZA" sz="2200" b="1" dirty="0"/>
              <a:t>half the array</a:t>
            </a:r>
            <a:r>
              <a:rPr lang="en-ZA" sz="2200" dirty="0"/>
              <a:t>.</a:t>
            </a:r>
          </a:p>
          <a:p>
            <a:pPr marL="0" indent="0">
              <a:buNone/>
            </a:pPr>
            <a:r>
              <a:rPr lang="en-ZA" sz="2200" dirty="0"/>
              <a:t>Average = O(n/2) = O(n), the reason is O(n), we ignore the constants.</a:t>
            </a:r>
          </a:p>
          <a:p>
            <a:pPr marL="0" indent="0">
              <a:buNone/>
            </a:pPr>
            <a:endParaRPr lang="en-ZA" sz="2200" dirty="0"/>
          </a:p>
        </p:txBody>
      </p:sp>
    </p:spTree>
    <p:extLst>
      <p:ext uri="{BB962C8B-B14F-4D97-AF65-F5344CB8AC3E}">
        <p14:creationId xmlns:p14="http://schemas.microsoft.com/office/powerpoint/2010/main" val="709717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96101-6DF8-E15F-24E8-B70E5994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Quick Question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5A1C7-A8BC-73BC-06BD-ABC8B6D43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/>
              <a:t>Array:</a:t>
            </a:r>
          </a:p>
          <a:p>
            <a:pPr marL="0" indent="0">
              <a:buNone/>
            </a:pPr>
            <a:r>
              <a:rPr lang="en-ZA" sz="2200"/>
              <a:t>{5, 10, 15, 20, 25, 30}</a:t>
            </a:r>
          </a:p>
          <a:p>
            <a:pPr marL="514350" indent="-514350">
              <a:buAutoNum type="arabicPeriod"/>
            </a:pPr>
            <a:r>
              <a:rPr lang="en-ZA" sz="2200"/>
              <a:t>Search for 5: how many comparisons and complexity?</a:t>
            </a:r>
          </a:p>
          <a:p>
            <a:pPr marL="514350" indent="-514350">
              <a:buAutoNum type="arabicPeriod"/>
            </a:pPr>
            <a:r>
              <a:rPr lang="en-ZA" sz="2200"/>
              <a:t>Search for 30: how many comparisons and complexity?</a:t>
            </a:r>
          </a:p>
          <a:p>
            <a:pPr marL="514350" indent="-514350">
              <a:buAutoNum type="arabicPeriod"/>
            </a:pPr>
            <a:r>
              <a:rPr lang="en-ZA" sz="2200"/>
              <a:t>Search for 100: how many comparisons and complexity?</a:t>
            </a:r>
          </a:p>
          <a:p>
            <a:pPr marL="514350" indent="-514350">
              <a:buAutoNum type="arabicPeriod"/>
            </a:pPr>
            <a:endParaRPr lang="en-ZA" sz="2200"/>
          </a:p>
          <a:p>
            <a:pPr marL="514350" indent="-514350">
              <a:buAutoNum type="arabicPeriod"/>
            </a:pPr>
            <a:endParaRPr lang="en-ZA" sz="2200"/>
          </a:p>
        </p:txBody>
      </p:sp>
    </p:spTree>
    <p:extLst>
      <p:ext uri="{BB962C8B-B14F-4D97-AF65-F5344CB8AC3E}">
        <p14:creationId xmlns:p14="http://schemas.microsoft.com/office/powerpoint/2010/main" val="2877728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92BC0-5169-822D-5611-54C16B6C0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Binary Search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DC846-1D9A-E4EB-24C2-E070D396D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/>
              <a:t>Linear search checks one by one. Binary search tries to eliminate half of the array at every step.</a:t>
            </a:r>
          </a:p>
          <a:p>
            <a:pPr marL="0" indent="0">
              <a:buNone/>
            </a:pPr>
            <a:r>
              <a:rPr lang="en-ZA" sz="2200" b="1"/>
              <a:t>Important rule of binary search:</a:t>
            </a:r>
          </a:p>
          <a:p>
            <a:r>
              <a:rPr lang="en-ZA" sz="2200" i="1"/>
              <a:t>Binary search requires a sorted array.</a:t>
            </a:r>
          </a:p>
          <a:p>
            <a:pPr marL="0" indent="0">
              <a:buNone/>
            </a:pPr>
            <a:r>
              <a:rPr lang="en-ZA" sz="2200"/>
              <a:t>Consider:</a:t>
            </a:r>
          </a:p>
          <a:p>
            <a:pPr marL="514350" indent="-514350">
              <a:buAutoNum type="arabicPlain" startAt="50"/>
            </a:pPr>
            <a:r>
              <a:rPr lang="en-ZA" sz="2200" i="1"/>
              <a:t>10  80  20  40</a:t>
            </a:r>
          </a:p>
          <a:p>
            <a:pPr marL="0" indent="0">
              <a:buNone/>
            </a:pPr>
            <a:r>
              <a:rPr lang="en-ZA" sz="2200"/>
              <a:t>We cannot properly use binary search on this because it isn't sorted.</a:t>
            </a:r>
          </a:p>
          <a:p>
            <a:pPr marL="0" indent="0">
              <a:buNone/>
            </a:pPr>
            <a:r>
              <a:rPr lang="en-ZA" sz="2200"/>
              <a:t>We first need:</a:t>
            </a:r>
          </a:p>
          <a:p>
            <a:pPr marL="0" indent="0">
              <a:buNone/>
            </a:pPr>
            <a:r>
              <a:rPr lang="en-ZA" sz="2200" i="1"/>
              <a:t>10  20  40  50  80</a:t>
            </a:r>
          </a:p>
        </p:txBody>
      </p:sp>
    </p:spTree>
    <p:extLst>
      <p:ext uri="{BB962C8B-B14F-4D97-AF65-F5344CB8AC3E}">
        <p14:creationId xmlns:p14="http://schemas.microsoft.com/office/powerpoint/2010/main" val="4289520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FC642-550E-21C1-C9C8-A0296C2DB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000"/>
              <a:t>Let’s Try To Understand Binary Search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0BA2B-E991-1B99-DDD2-22403BE13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 dirty="0"/>
              <a:t>1.</a:t>
            </a:r>
          </a:p>
          <a:p>
            <a:pPr marL="0" indent="0">
              <a:buNone/>
            </a:pPr>
            <a:r>
              <a:rPr lang="en-ZA" sz="2200" dirty="0"/>
              <a:t>We have this array:</a:t>
            </a:r>
          </a:p>
          <a:p>
            <a:pPr marL="0" indent="0">
              <a:buNone/>
            </a:pPr>
            <a:r>
              <a:rPr lang="en-ZA" sz="2200" dirty="0"/>
              <a:t>80 10 70 50 20 40 90 30</a:t>
            </a:r>
          </a:p>
          <a:p>
            <a:pPr marL="0" indent="0">
              <a:buNone/>
            </a:pPr>
            <a:r>
              <a:rPr lang="en-ZA" sz="2200" dirty="0"/>
              <a:t>Rule: we need to sort the array first</a:t>
            </a:r>
          </a:p>
          <a:p>
            <a:pPr marL="0" indent="0">
              <a:buNone/>
            </a:pPr>
            <a:r>
              <a:rPr lang="en-ZA" sz="2200" dirty="0"/>
              <a:t>10 20 30 40 50 60 70 80</a:t>
            </a:r>
          </a:p>
          <a:p>
            <a:pPr marL="0" indent="0">
              <a:buNone/>
            </a:pPr>
            <a:r>
              <a:rPr lang="en-ZA" sz="2200" dirty="0"/>
              <a:t>2. </a:t>
            </a:r>
          </a:p>
          <a:p>
            <a:pPr marL="0" indent="0">
              <a:buNone/>
            </a:pPr>
            <a:r>
              <a:rPr lang="en-ZA" sz="2200" dirty="0"/>
              <a:t>We have this array:</a:t>
            </a:r>
          </a:p>
          <a:p>
            <a:pPr marL="0" indent="0">
              <a:buNone/>
            </a:pPr>
            <a:r>
              <a:rPr lang="en-ZA" sz="2200" dirty="0"/>
              <a:t>34 56 12 67 89 61 90 64 37 48</a:t>
            </a:r>
          </a:p>
          <a:p>
            <a:pPr marL="0" indent="0">
              <a:buNone/>
            </a:pPr>
            <a:r>
              <a:rPr lang="en-ZA" sz="2200" dirty="0"/>
              <a:t>Rule: we need to sort the array first</a:t>
            </a:r>
          </a:p>
          <a:p>
            <a:pPr marL="0" indent="0">
              <a:buNone/>
            </a:pPr>
            <a:r>
              <a:rPr lang="en-ZA" sz="2200" dirty="0"/>
              <a:t>12 34 37 48 56 61 64 67 89 90</a:t>
            </a:r>
          </a:p>
          <a:p>
            <a:pPr marL="0" indent="0">
              <a:buNone/>
            </a:pPr>
            <a:endParaRPr lang="en-ZA" sz="2200" dirty="0"/>
          </a:p>
        </p:txBody>
      </p:sp>
    </p:spTree>
    <p:extLst>
      <p:ext uri="{BB962C8B-B14F-4D97-AF65-F5344CB8AC3E}">
        <p14:creationId xmlns:p14="http://schemas.microsoft.com/office/powerpoint/2010/main" val="2605364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E0A5E-6142-2759-8CD0-D259B55F8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Binary Search Java Method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08615-8B72-239C-B500-D83E8E949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2000" dirty="0"/>
              <a:t>public int </a:t>
            </a:r>
            <a:r>
              <a:rPr lang="en-ZA" sz="2000" dirty="0" err="1"/>
              <a:t>binarySearch</a:t>
            </a:r>
            <a:r>
              <a:rPr lang="en-ZA" sz="2000" dirty="0"/>
              <a:t>(int[] array, int </a:t>
            </a:r>
            <a:r>
              <a:rPr lang="en-ZA" sz="2000" dirty="0" err="1"/>
              <a:t>searchItem</a:t>
            </a:r>
            <a:r>
              <a:rPr lang="en-ZA" sz="2000" dirty="0"/>
              <a:t>) {</a:t>
            </a:r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r>
              <a:rPr lang="en-ZA" sz="2000" dirty="0"/>
              <a:t>    int low = 0;</a:t>
            </a:r>
          </a:p>
          <a:p>
            <a:pPr marL="0" indent="0">
              <a:buNone/>
            </a:pPr>
            <a:r>
              <a:rPr lang="en-ZA" sz="2000" dirty="0"/>
              <a:t>    int high = </a:t>
            </a:r>
            <a:r>
              <a:rPr lang="en-ZA" sz="2000" dirty="0" err="1"/>
              <a:t>array.length</a:t>
            </a:r>
            <a:r>
              <a:rPr lang="en-ZA" sz="2000" dirty="0"/>
              <a:t> - 1;</a:t>
            </a:r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r>
              <a:rPr lang="en-ZA" sz="2000" dirty="0"/>
              <a:t>    while (low &lt;= high) {</a:t>
            </a:r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r>
              <a:rPr lang="en-ZA" sz="2000" dirty="0"/>
              <a:t>        int mid = (low + high) / 2;</a:t>
            </a:r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r>
              <a:rPr lang="en-ZA" sz="2000" dirty="0"/>
              <a:t>        if (array[mid] == </a:t>
            </a:r>
            <a:r>
              <a:rPr lang="en-ZA" sz="2000" dirty="0" err="1"/>
              <a:t>searchItem</a:t>
            </a:r>
            <a:r>
              <a:rPr lang="en-ZA" sz="2000" dirty="0"/>
              <a:t>) {</a:t>
            </a:r>
          </a:p>
          <a:p>
            <a:pPr marL="0" indent="0">
              <a:buNone/>
            </a:pPr>
            <a:r>
              <a:rPr lang="en-ZA" sz="2000" dirty="0"/>
              <a:t>            return mid;</a:t>
            </a:r>
          </a:p>
          <a:p>
            <a:pPr marL="0" indent="0">
              <a:buNone/>
            </a:pPr>
            <a:r>
              <a:rPr lang="en-ZA" sz="2000" dirty="0"/>
              <a:t>        }</a:t>
            </a:r>
          </a:p>
          <a:p>
            <a:pPr marL="0" indent="0">
              <a:buNone/>
            </a:pPr>
            <a:r>
              <a:rPr lang="en-ZA" sz="2000" dirty="0"/>
              <a:t>        else if (array[mid] &gt; </a:t>
            </a:r>
            <a:r>
              <a:rPr lang="en-ZA" sz="2000" dirty="0" err="1"/>
              <a:t>searchItem</a:t>
            </a:r>
            <a:r>
              <a:rPr lang="en-ZA" sz="2000" dirty="0"/>
              <a:t>) {</a:t>
            </a:r>
          </a:p>
          <a:p>
            <a:pPr marL="0" indent="0">
              <a:buNone/>
            </a:pPr>
            <a:r>
              <a:rPr lang="en-ZA" sz="2000" dirty="0"/>
              <a:t>            high = mid - 1;</a:t>
            </a:r>
          </a:p>
          <a:p>
            <a:pPr marL="0" indent="0">
              <a:buNone/>
            </a:pPr>
            <a:r>
              <a:rPr lang="en-ZA" sz="2000" dirty="0"/>
              <a:t>        }</a:t>
            </a:r>
          </a:p>
          <a:p>
            <a:pPr marL="0" indent="0">
              <a:buNone/>
            </a:pPr>
            <a:r>
              <a:rPr lang="en-ZA" sz="2000" dirty="0"/>
              <a:t>        else {</a:t>
            </a:r>
          </a:p>
          <a:p>
            <a:pPr marL="0" indent="0">
              <a:buNone/>
            </a:pPr>
            <a:r>
              <a:rPr lang="en-ZA" sz="2000" dirty="0"/>
              <a:t>            low = mid + 1;</a:t>
            </a:r>
          </a:p>
          <a:p>
            <a:pPr marL="0" indent="0">
              <a:buNone/>
            </a:pPr>
            <a:r>
              <a:rPr lang="en-ZA" sz="2000" dirty="0"/>
              <a:t>        }</a:t>
            </a:r>
          </a:p>
          <a:p>
            <a:pPr marL="0" indent="0">
              <a:buNone/>
            </a:pPr>
            <a:r>
              <a:rPr lang="en-ZA" sz="2000" dirty="0"/>
              <a:t>    }</a:t>
            </a:r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r>
              <a:rPr lang="en-ZA" sz="2000" dirty="0"/>
              <a:t>    return -1;</a:t>
            </a:r>
          </a:p>
          <a:p>
            <a:pPr marL="0" indent="0">
              <a:buNone/>
            </a:pPr>
            <a:r>
              <a:rPr lang="en-ZA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4897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0E572-273C-2FE4-7EE6-5D3E37D80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Binary Search Complexity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59800-6AED-E990-1FD3-C2D1F3094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 b="1" dirty="0"/>
              <a:t>Best Case</a:t>
            </a:r>
          </a:p>
          <a:p>
            <a:pPr marL="0" indent="0">
              <a:buNone/>
            </a:pPr>
            <a:r>
              <a:rPr lang="en-ZA" sz="2200" dirty="0"/>
              <a:t>We have this array:</a:t>
            </a:r>
          </a:p>
          <a:p>
            <a:pPr marL="0" indent="0">
              <a:buNone/>
            </a:pPr>
            <a:r>
              <a:rPr lang="en-ZA" sz="2200" dirty="0"/>
              <a:t>10  20  30  40  50</a:t>
            </a:r>
          </a:p>
          <a:p>
            <a:pPr marL="0" indent="0">
              <a:buNone/>
            </a:pPr>
            <a:r>
              <a:rPr lang="en-ZA" sz="2200" dirty="0"/>
              <a:t>We are searching for 30; we found out that 30 is in the middle.</a:t>
            </a:r>
          </a:p>
          <a:p>
            <a:pPr marL="0" indent="0">
              <a:buNone/>
            </a:pPr>
            <a:r>
              <a:rPr lang="en-ZA" sz="2200" dirty="0"/>
              <a:t>We only did 1 comparison</a:t>
            </a:r>
          </a:p>
          <a:p>
            <a:pPr marL="0" indent="0">
              <a:buNone/>
            </a:pPr>
            <a:r>
              <a:rPr lang="en-ZA" sz="2200" b="1" dirty="0"/>
              <a:t>Best Case = O(1)</a:t>
            </a:r>
          </a:p>
        </p:txBody>
      </p:sp>
    </p:spTree>
    <p:extLst>
      <p:ext uri="{BB962C8B-B14F-4D97-AF65-F5344CB8AC3E}">
        <p14:creationId xmlns:p14="http://schemas.microsoft.com/office/powerpoint/2010/main" val="3377855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67FC13-CBD3-7F20-F87C-90FDBC1B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Average Case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46A6C-0FD0-21BC-3D87-1BA07ABE0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000" dirty="0"/>
              <a:t>We have this array:</a:t>
            </a:r>
          </a:p>
          <a:p>
            <a:pPr marL="0" indent="0">
              <a:buNone/>
            </a:pPr>
            <a:r>
              <a:rPr lang="en-ZA" sz="2000" dirty="0"/>
              <a:t>10  20  30  40  50</a:t>
            </a:r>
          </a:p>
          <a:p>
            <a:pPr marL="0" indent="0">
              <a:buNone/>
            </a:pPr>
            <a:r>
              <a:rPr lang="en-ZA" sz="2000" dirty="0"/>
              <a:t>We are searching for 50.</a:t>
            </a:r>
          </a:p>
          <a:p>
            <a:pPr marL="0" indent="0">
              <a:buNone/>
            </a:pPr>
            <a:r>
              <a:rPr lang="en-ZA" sz="2000" dirty="0"/>
              <a:t>Steps:</a:t>
            </a:r>
          </a:p>
          <a:p>
            <a:pPr lvl="0"/>
            <a:r>
              <a:rPr lang="en-ZA" sz="2000" dirty="0">
                <a:effectLst/>
              </a:rPr>
              <a:t>Compare with middle (30) = 50 &gt; 30 → search right half.</a:t>
            </a:r>
            <a:endParaRPr lang="en-ZA" sz="2000" dirty="0"/>
          </a:p>
          <a:p>
            <a:pPr lvl="0"/>
            <a:r>
              <a:rPr lang="en-ZA" sz="2000" dirty="0">
                <a:effectLst/>
              </a:rPr>
              <a:t>Compare with new middle (40) = 50 &gt; 40 → search right half.</a:t>
            </a:r>
            <a:endParaRPr lang="en-ZA" sz="2000" dirty="0"/>
          </a:p>
          <a:p>
            <a:pPr lvl="0"/>
            <a:r>
              <a:rPr lang="en-ZA" sz="2000" dirty="0">
                <a:effectLst/>
              </a:rPr>
              <a:t>Compare with next middle (50) = found.</a:t>
            </a:r>
            <a:endParaRPr lang="en-ZA" sz="2000" dirty="0"/>
          </a:p>
          <a:p>
            <a:pPr marL="0" indent="0">
              <a:buNone/>
            </a:pPr>
            <a:r>
              <a:rPr lang="en-ZA" sz="2000" dirty="0"/>
              <a:t>It took about </a:t>
            </a:r>
            <a:r>
              <a:rPr lang="en-ZA" sz="2000" b="1" dirty="0"/>
              <a:t>log₂(n)</a:t>
            </a:r>
            <a:r>
              <a:rPr lang="en-ZA" sz="2000" dirty="0"/>
              <a:t> comparisons.</a:t>
            </a:r>
          </a:p>
          <a:p>
            <a:pPr marL="0" indent="0">
              <a:buNone/>
            </a:pPr>
            <a:r>
              <a:rPr lang="en-ZA" sz="2000" dirty="0"/>
              <a:t>So on average, binary search checks </a:t>
            </a:r>
            <a:r>
              <a:rPr lang="en-ZA" sz="2000" b="1" dirty="0"/>
              <a:t>log n elements</a:t>
            </a:r>
            <a:r>
              <a:rPr lang="en-ZA" sz="2000" dirty="0"/>
              <a:t>. </a:t>
            </a:r>
          </a:p>
          <a:p>
            <a:pPr marL="0" indent="0">
              <a:buNone/>
            </a:pPr>
            <a:r>
              <a:rPr lang="en-ZA" sz="2000" b="1" dirty="0"/>
              <a:t>Average Case = O(log n)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3372698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B1574C-53AF-0E12-AE14-C42178B0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Worst Case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10683-2BB2-8402-509F-61DE10F71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 dirty="0"/>
              <a:t>We have this array:</a:t>
            </a:r>
          </a:p>
          <a:p>
            <a:pPr marL="0" indent="0">
              <a:buNone/>
            </a:pPr>
            <a:r>
              <a:rPr lang="en-ZA" sz="2200" dirty="0"/>
              <a:t>10  20  30  40  50</a:t>
            </a:r>
          </a:p>
          <a:p>
            <a:pPr marL="0" indent="0">
              <a:buNone/>
            </a:pPr>
            <a:r>
              <a:rPr lang="en-ZA" sz="2200" dirty="0"/>
              <a:t>We are searching for 5.</a:t>
            </a:r>
          </a:p>
          <a:p>
            <a:pPr marL="0" indent="0">
              <a:buNone/>
            </a:pPr>
            <a:r>
              <a:rPr lang="en-ZA" sz="2200" dirty="0">
                <a:effectLst/>
              </a:rPr>
              <a:t>Steps:</a:t>
            </a:r>
            <a:endParaRPr lang="en-ZA" sz="2200" dirty="0"/>
          </a:p>
          <a:p>
            <a:pPr lvl="0"/>
            <a:r>
              <a:rPr lang="en-ZA" sz="2200" dirty="0">
                <a:effectLst/>
              </a:rPr>
              <a:t>Compare with middle (30) = 5 &lt; 30 → search left half.</a:t>
            </a:r>
            <a:endParaRPr lang="en-ZA" sz="2200" dirty="0"/>
          </a:p>
          <a:p>
            <a:pPr lvl="0"/>
            <a:r>
              <a:rPr lang="en-ZA" sz="2200" dirty="0">
                <a:effectLst/>
              </a:rPr>
              <a:t>Compare with new middle (20) = 5 &lt; 20 → search left half.</a:t>
            </a:r>
            <a:endParaRPr lang="en-ZA" sz="2200" dirty="0"/>
          </a:p>
          <a:p>
            <a:pPr lvl="0"/>
            <a:r>
              <a:rPr lang="en-ZA" sz="2200" dirty="0">
                <a:effectLst/>
              </a:rPr>
              <a:t>Compare with next middle (10) = 5 &lt; 10 → search left half.</a:t>
            </a:r>
            <a:endParaRPr lang="en-ZA" sz="2200" dirty="0"/>
          </a:p>
          <a:p>
            <a:pPr lvl="0"/>
            <a:r>
              <a:rPr lang="en-ZA" sz="2200" dirty="0">
                <a:effectLst/>
              </a:rPr>
              <a:t>Now the search space is empty = not found.</a:t>
            </a:r>
          </a:p>
          <a:p>
            <a:pPr marL="0" lvl="0" indent="0">
              <a:buNone/>
            </a:pPr>
            <a:r>
              <a:rPr lang="en-ZA" sz="2200" dirty="0"/>
              <a:t>We had to keep halving until nothing was left. That’s about </a:t>
            </a:r>
            <a:r>
              <a:rPr lang="en-ZA" sz="2200" b="1" dirty="0"/>
              <a:t>log₂(n)</a:t>
            </a:r>
            <a:r>
              <a:rPr lang="en-ZA" sz="2200" dirty="0"/>
              <a:t> comparisons. </a:t>
            </a:r>
          </a:p>
          <a:p>
            <a:pPr marL="0" lvl="0" indent="0">
              <a:buNone/>
            </a:pPr>
            <a:r>
              <a:rPr lang="en-ZA" sz="2200" b="1" dirty="0"/>
              <a:t>Worst Case = O(log n)</a:t>
            </a:r>
            <a:endParaRPr lang="en-ZA" sz="2200" dirty="0"/>
          </a:p>
          <a:p>
            <a:pPr marL="0" indent="0">
              <a:buNone/>
            </a:pPr>
            <a:endParaRPr lang="en-ZA" sz="2200" dirty="0"/>
          </a:p>
        </p:txBody>
      </p:sp>
    </p:spTree>
    <p:extLst>
      <p:ext uri="{BB962C8B-B14F-4D97-AF65-F5344CB8AC3E}">
        <p14:creationId xmlns:p14="http://schemas.microsoft.com/office/powerpoint/2010/main" val="3552636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47573-A2CE-A35F-5214-BFA71A5E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Linear vs Binary Search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32E5C2-6296-5278-84E8-66D9B7168F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0708590"/>
              </p:ext>
            </p:extLst>
          </p:nvPr>
        </p:nvGraphicFramePr>
        <p:xfrm>
          <a:off x="935537" y="2228087"/>
          <a:ext cx="10320927" cy="394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0309">
                  <a:extLst>
                    <a:ext uri="{9D8B030D-6E8A-4147-A177-3AD203B41FA5}">
                      <a16:colId xmlns:a16="http://schemas.microsoft.com/office/drawing/2014/main" val="3622077556"/>
                    </a:ext>
                  </a:extLst>
                </a:gridCol>
                <a:gridCol w="3440309">
                  <a:extLst>
                    <a:ext uri="{9D8B030D-6E8A-4147-A177-3AD203B41FA5}">
                      <a16:colId xmlns:a16="http://schemas.microsoft.com/office/drawing/2014/main" val="642484353"/>
                    </a:ext>
                  </a:extLst>
                </a:gridCol>
                <a:gridCol w="3440309">
                  <a:extLst>
                    <a:ext uri="{9D8B030D-6E8A-4147-A177-3AD203B41FA5}">
                      <a16:colId xmlns:a16="http://schemas.microsoft.com/office/drawing/2014/main" val="848280553"/>
                    </a:ext>
                  </a:extLst>
                </a:gridCol>
              </a:tblGrid>
              <a:tr h="39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 b="1"/>
                        <a:t>Feature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 b="1"/>
                        <a:t>Linear Search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 b="1" dirty="0"/>
                        <a:t>Binary Search</a:t>
                      </a:r>
                    </a:p>
                  </a:txBody>
                  <a:tcPr marL="89747" marR="89747" marT="44874" marB="44874" anchor="ctr"/>
                </a:tc>
                <a:extLst>
                  <a:ext uri="{0D108BD9-81ED-4DB2-BD59-A6C34878D82A}">
                    <a16:rowId xmlns:a16="http://schemas.microsoft.com/office/drawing/2014/main" val="3769870876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Other name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Sequential Search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Half-Interval Search</a:t>
                      </a:r>
                    </a:p>
                  </a:txBody>
                  <a:tcPr marL="89747" marR="89747" marT="44874" marB="44874" anchor="ctr"/>
                </a:tc>
                <a:extLst>
                  <a:ext uri="{0D108BD9-81ED-4DB2-BD59-A6C34878D82A}">
                    <a16:rowId xmlns:a16="http://schemas.microsoft.com/office/drawing/2014/main" val="3885226070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Array must be sorted?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No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Yes</a:t>
                      </a:r>
                    </a:p>
                  </a:txBody>
                  <a:tcPr marL="89747" marR="89747" marT="44874" marB="44874" anchor="ctr"/>
                </a:tc>
                <a:extLst>
                  <a:ext uri="{0D108BD9-81ED-4DB2-BD59-A6C34878D82A}">
                    <a16:rowId xmlns:a16="http://schemas.microsoft.com/office/drawing/2014/main" val="3516824921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How does it search?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One element at a time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Middle element</a:t>
                      </a:r>
                    </a:p>
                  </a:txBody>
                  <a:tcPr marL="89747" marR="89747" marT="44874" marB="44874" anchor="ctr"/>
                </a:tc>
                <a:extLst>
                  <a:ext uri="{0D108BD9-81ED-4DB2-BD59-A6C34878D82A}">
                    <a16:rowId xmlns:a16="http://schemas.microsoft.com/office/drawing/2014/main" val="1783846249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Best case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 dirty="0"/>
                        <a:t>O(1)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O(1)</a:t>
                      </a:r>
                    </a:p>
                  </a:txBody>
                  <a:tcPr marL="89747" marR="89747" marT="44874" marB="44874" anchor="ctr"/>
                </a:tc>
                <a:extLst>
                  <a:ext uri="{0D108BD9-81ED-4DB2-BD59-A6C34878D82A}">
                    <a16:rowId xmlns:a16="http://schemas.microsoft.com/office/drawing/2014/main" val="2939641933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Average case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O(n)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O(log n)</a:t>
                      </a:r>
                    </a:p>
                  </a:txBody>
                  <a:tcPr marL="89747" marR="89747" marT="44874" marB="44874" anchor="ctr"/>
                </a:tc>
                <a:extLst>
                  <a:ext uri="{0D108BD9-81ED-4DB2-BD59-A6C34878D82A}">
                    <a16:rowId xmlns:a16="http://schemas.microsoft.com/office/drawing/2014/main" val="4164528154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Worst case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O(n)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O(log n)</a:t>
                      </a:r>
                    </a:p>
                  </a:txBody>
                  <a:tcPr marL="89747" marR="89747" marT="44874" marB="44874" anchor="ctr"/>
                </a:tc>
                <a:extLst>
                  <a:ext uri="{0D108BD9-81ED-4DB2-BD59-A6C34878D82A}">
                    <a16:rowId xmlns:a16="http://schemas.microsoft.com/office/drawing/2014/main" val="181949952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Simple to implement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Yes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Slightly more complex</a:t>
                      </a:r>
                    </a:p>
                  </a:txBody>
                  <a:tcPr marL="89747" marR="89747" marT="44874" marB="44874" anchor="ctr"/>
                </a:tc>
                <a:extLst>
                  <a:ext uri="{0D108BD9-81ED-4DB2-BD59-A6C34878D82A}">
                    <a16:rowId xmlns:a16="http://schemas.microsoft.com/office/drawing/2014/main" val="3564779688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Good for large arrays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Less efficient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More efficient</a:t>
                      </a:r>
                    </a:p>
                  </a:txBody>
                  <a:tcPr marL="89747" marR="89747" marT="44874" marB="44874" anchor="ctr"/>
                </a:tc>
                <a:extLst>
                  <a:ext uri="{0D108BD9-81ED-4DB2-BD59-A6C34878D82A}">
                    <a16:rowId xmlns:a16="http://schemas.microsoft.com/office/drawing/2014/main" val="1808796624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Requires sorted data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No</a:t>
                      </a:r>
                    </a:p>
                  </a:txBody>
                  <a:tcPr marL="89747" marR="89747" marT="44874" marB="44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 dirty="0"/>
                        <a:t>Yes</a:t>
                      </a:r>
                    </a:p>
                  </a:txBody>
                  <a:tcPr marL="89747" marR="89747" marT="44874" marB="44874" anchor="ctr"/>
                </a:tc>
                <a:extLst>
                  <a:ext uri="{0D108BD9-81ED-4DB2-BD59-A6C34878D82A}">
                    <a16:rowId xmlns:a16="http://schemas.microsoft.com/office/drawing/2014/main" val="266591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338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CC9842-6BA1-5FD9-C666-58B5D6D8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5400"/>
              <a:t>Sorting Algorithms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25F0-8C6C-05B0-66EF-4A0C5A5A2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b="1" dirty="0"/>
              <a:t>What is Sorting?</a:t>
            </a:r>
          </a:p>
          <a:p>
            <a:pPr marL="0" indent="0">
              <a:buNone/>
            </a:pPr>
            <a:r>
              <a:rPr lang="en-ZA" sz="2400" b="1" dirty="0"/>
              <a:t>Sorting</a:t>
            </a:r>
            <a:r>
              <a:rPr lang="en-ZA" sz="2400" dirty="0"/>
              <a:t> means arranging the elements of an array in a particular order.</a:t>
            </a:r>
          </a:p>
          <a:p>
            <a:pPr marL="0" indent="0">
              <a:buNone/>
            </a:pPr>
            <a:r>
              <a:rPr lang="en-ZA" sz="2400" dirty="0"/>
              <a:t>The two common orders are:</a:t>
            </a:r>
          </a:p>
          <a:p>
            <a:pPr marL="0" indent="0">
              <a:buNone/>
            </a:pPr>
            <a:r>
              <a:rPr lang="en-ZA" sz="2400" b="1" dirty="0"/>
              <a:t>Ascending order</a:t>
            </a:r>
          </a:p>
          <a:p>
            <a:pPr marL="0" indent="0">
              <a:buNone/>
            </a:pPr>
            <a:r>
              <a:rPr lang="en-ZA" sz="2400" dirty="0"/>
              <a:t>Smallest → Largest</a:t>
            </a:r>
          </a:p>
          <a:p>
            <a:pPr marL="457200" indent="-457200">
              <a:buAutoNum type="arabicPlain" startAt="12"/>
            </a:pPr>
            <a:r>
              <a:rPr lang="en-ZA" sz="2200" dirty="0"/>
              <a:t>25  34  48  67  90</a:t>
            </a:r>
          </a:p>
          <a:p>
            <a:pPr marL="0" indent="0">
              <a:buNone/>
            </a:pPr>
            <a:r>
              <a:rPr lang="en-ZA" sz="2400" dirty="0"/>
              <a:t>Descending order</a:t>
            </a:r>
          </a:p>
          <a:p>
            <a:pPr marL="0" indent="0">
              <a:buNone/>
            </a:pPr>
            <a:r>
              <a:rPr lang="en-ZA" sz="2400" b="1" dirty="0"/>
              <a:t>Largest → Smallest</a:t>
            </a:r>
          </a:p>
          <a:p>
            <a:pPr marL="0" indent="0">
              <a:buNone/>
            </a:pPr>
            <a:r>
              <a:rPr lang="en-ZA" sz="2200" dirty="0"/>
              <a:t>90  67  48  34  25  12</a:t>
            </a:r>
          </a:p>
        </p:txBody>
      </p:sp>
    </p:spTree>
    <p:extLst>
      <p:ext uri="{BB962C8B-B14F-4D97-AF65-F5344CB8AC3E}">
        <p14:creationId xmlns:p14="http://schemas.microsoft.com/office/powerpoint/2010/main" val="2272256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85982-35E7-65ED-EC64-AA230B60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ZA" sz="4000"/>
              <a:t>Bubble Sort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B43C-5F95-1E6A-B400-661E7D3C7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 b="1"/>
              <a:t>What is Bubble Sort?</a:t>
            </a:r>
          </a:p>
          <a:p>
            <a:pPr marL="0" indent="0">
              <a:buNone/>
            </a:pPr>
            <a:r>
              <a:rPr lang="en-ZA" sz="2200" b="1"/>
              <a:t>Bubble Sort</a:t>
            </a:r>
            <a:r>
              <a:rPr lang="en-ZA" sz="2200"/>
              <a:t> repeatedly compares </a:t>
            </a:r>
            <a:r>
              <a:rPr lang="en-ZA" sz="2200" b="1"/>
              <a:t>two neighbouring elements</a:t>
            </a:r>
            <a:r>
              <a:rPr lang="en-ZA" sz="2200"/>
              <a:t> and swaps them if they are in the wrong order.</a:t>
            </a:r>
          </a:p>
          <a:p>
            <a:pPr marL="0" indent="0">
              <a:buNone/>
            </a:pPr>
            <a:r>
              <a:rPr lang="en-ZA" sz="2200"/>
              <a:t>The important idea is:</a:t>
            </a:r>
          </a:p>
          <a:p>
            <a:pPr marL="0" indent="0">
              <a:buNone/>
            </a:pPr>
            <a:r>
              <a:rPr lang="en-ZA" sz="2200"/>
              <a:t>Compare adjacent elements → swap if necessary → continue through the array.</a:t>
            </a:r>
          </a:p>
          <a:p>
            <a:pPr marL="0" indent="0">
              <a:buNone/>
            </a:pPr>
            <a:r>
              <a:rPr lang="en-ZA" sz="2200"/>
              <a:t>After each complete pass, the </a:t>
            </a:r>
            <a:r>
              <a:rPr lang="en-ZA" sz="2200" b="1"/>
              <a:t>largest unsorted element moves to the end</a:t>
            </a:r>
            <a:r>
              <a:rPr lang="en-ZA" sz="2200"/>
              <a:t> of the array.</a:t>
            </a:r>
          </a:p>
          <a:p>
            <a:pPr marL="0" indent="0">
              <a:buNone/>
            </a:pPr>
            <a:r>
              <a:rPr lang="en-ZA" sz="2200"/>
              <a:t>That's why it's called </a:t>
            </a:r>
            <a:r>
              <a:rPr lang="en-ZA" sz="2200" i="1"/>
              <a:t>Bubble Sort</a:t>
            </a:r>
            <a:r>
              <a:rPr lang="en-ZA" sz="2200"/>
              <a:t> — the larger values "bubble" toward the end.</a:t>
            </a:r>
          </a:p>
        </p:txBody>
      </p:sp>
    </p:spTree>
    <p:extLst>
      <p:ext uri="{BB962C8B-B14F-4D97-AF65-F5344CB8AC3E}">
        <p14:creationId xmlns:p14="http://schemas.microsoft.com/office/powerpoint/2010/main" val="310836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C2693-FB20-2A5D-4B7F-64FA60D96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ZA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652B-7E89-2784-0A91-473B5E624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ZA" sz="2000"/>
              <a:t>Consider:</a:t>
            </a:r>
          </a:p>
          <a:p>
            <a:pPr marL="514350" indent="-514350">
              <a:buAutoNum type="arabicPlain" startAt="50"/>
            </a:pPr>
            <a:r>
              <a:rPr lang="en-ZA" sz="2000"/>
              <a:t>30  20  40  10</a:t>
            </a:r>
          </a:p>
          <a:p>
            <a:pPr marL="0" indent="0">
              <a:buNone/>
            </a:pPr>
            <a:r>
              <a:rPr lang="en-ZA" sz="2000"/>
              <a:t>We want ascending order.</a:t>
            </a:r>
          </a:p>
          <a:p>
            <a:pPr marL="0" indent="0">
              <a:buNone/>
            </a:pPr>
            <a:r>
              <a:rPr lang="en-ZA" sz="2000"/>
              <a:t>Pass 1</a:t>
            </a:r>
          </a:p>
          <a:p>
            <a:pPr marL="0" indent="0">
              <a:buNone/>
            </a:pPr>
            <a:r>
              <a:rPr lang="en-ZA" sz="2000"/>
              <a:t>Compare 50 and 30</a:t>
            </a:r>
          </a:p>
          <a:p>
            <a:pPr marL="0" indent="0">
              <a:buNone/>
            </a:pPr>
            <a:r>
              <a:rPr lang="en-ZA" sz="2000"/>
              <a:t>50 &gt; 30</a:t>
            </a:r>
          </a:p>
          <a:p>
            <a:pPr marL="0" indent="0">
              <a:buNone/>
            </a:pPr>
            <a:r>
              <a:rPr lang="en-ZA" sz="2000"/>
              <a:t>Swap them:</a:t>
            </a:r>
          </a:p>
          <a:p>
            <a:pPr marL="0" indent="0">
              <a:buNone/>
            </a:pPr>
            <a:r>
              <a:rPr lang="en-ZA" sz="2000"/>
              <a:t>30 50 20 40 10</a:t>
            </a:r>
          </a:p>
          <a:p>
            <a:pPr marL="0" indent="0">
              <a:buNone/>
            </a:pPr>
            <a:r>
              <a:rPr lang="en-ZA" sz="2000"/>
              <a:t>Compare 50 and 20.</a:t>
            </a:r>
          </a:p>
          <a:p>
            <a:pPr marL="0" indent="0">
              <a:buNone/>
            </a:pPr>
            <a:r>
              <a:rPr lang="en-ZA" sz="2000"/>
              <a:t>50 &gt; 20</a:t>
            </a:r>
          </a:p>
          <a:p>
            <a:pPr marL="0" indent="0">
              <a:buNone/>
            </a:pPr>
            <a:r>
              <a:rPr lang="en-ZA" sz="2000"/>
              <a:t>Swap:</a:t>
            </a:r>
          </a:p>
          <a:p>
            <a:pPr marL="0" indent="0">
              <a:buNone/>
            </a:pPr>
            <a:r>
              <a:rPr lang="en-ZA" sz="2000"/>
              <a:t>30 20 50 40 10</a:t>
            </a:r>
            <a:br>
              <a:rPr lang="en-ZA" sz="2000"/>
            </a:br>
            <a:r>
              <a:rPr lang="en-ZA" sz="2000"/>
              <a:t>And so on….</a:t>
            </a:r>
          </a:p>
        </p:txBody>
      </p:sp>
    </p:spTree>
    <p:extLst>
      <p:ext uri="{BB962C8B-B14F-4D97-AF65-F5344CB8AC3E}">
        <p14:creationId xmlns:p14="http://schemas.microsoft.com/office/powerpoint/2010/main" val="2321553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DFD8B0-519D-ABB7-EC0F-BDF56FCC8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ZA" sz="4000"/>
              <a:t>Pass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F8FC-DEC1-A45F-37FA-7775714E6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1700"/>
              <a:t>Start again.</a:t>
            </a:r>
          </a:p>
          <a:p>
            <a:pPr marL="0" indent="0">
              <a:buNone/>
            </a:pPr>
            <a:r>
              <a:rPr lang="en-ZA" sz="1700"/>
              <a:t>Compare:</a:t>
            </a:r>
          </a:p>
          <a:p>
            <a:pPr marL="0" indent="0">
              <a:buNone/>
            </a:pPr>
            <a:r>
              <a:rPr lang="en-ZA" sz="1700"/>
              <a:t>30 and 20</a:t>
            </a:r>
          </a:p>
          <a:p>
            <a:pPr marL="0" indent="0">
              <a:buNone/>
            </a:pPr>
            <a:r>
              <a:rPr lang="en-ZA" sz="1700"/>
              <a:t>Swap:</a:t>
            </a:r>
          </a:p>
          <a:p>
            <a:pPr marL="0" indent="0">
              <a:buNone/>
            </a:pPr>
            <a:r>
              <a:rPr lang="en-ZA" sz="1700"/>
              <a:t>20 30 40 10 50</a:t>
            </a:r>
          </a:p>
          <a:p>
            <a:pPr marL="0" indent="0">
              <a:buNone/>
            </a:pPr>
            <a:r>
              <a:rPr lang="en-ZA" sz="1700"/>
              <a:t>Compare:</a:t>
            </a:r>
          </a:p>
          <a:p>
            <a:pPr marL="0" indent="0">
              <a:buNone/>
            </a:pPr>
            <a:r>
              <a:rPr lang="en-ZA" sz="1700"/>
              <a:t>30 and 40</a:t>
            </a:r>
          </a:p>
          <a:p>
            <a:pPr marL="0" indent="0">
              <a:buNone/>
            </a:pPr>
            <a:r>
              <a:rPr lang="en-ZA" sz="1700"/>
              <a:t>No swap.</a:t>
            </a:r>
          </a:p>
          <a:p>
            <a:pPr marL="0" indent="0">
              <a:buNone/>
            </a:pPr>
            <a:r>
              <a:rPr lang="en-ZA" sz="1700"/>
              <a:t>20 30 40 10 50</a:t>
            </a:r>
          </a:p>
          <a:p>
            <a:pPr marL="0" indent="0">
              <a:buNone/>
            </a:pPr>
            <a:r>
              <a:rPr lang="en-ZA" sz="1700"/>
              <a:t>And so on…</a:t>
            </a:r>
          </a:p>
        </p:txBody>
      </p:sp>
    </p:spTree>
    <p:extLst>
      <p:ext uri="{BB962C8B-B14F-4D97-AF65-F5344CB8AC3E}">
        <p14:creationId xmlns:p14="http://schemas.microsoft.com/office/powerpoint/2010/main" val="1078187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EF858-28C1-E38D-C582-C2EB46BBE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ZA"/>
              <a:t>Bubble Sort Java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31752-FFF6-C042-2F45-CAE15F9E8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ZA" sz="1700"/>
              <a:t>public void bubbleSort(int[] array) {</a:t>
            </a:r>
          </a:p>
          <a:p>
            <a:pPr marL="0" indent="0">
              <a:buNone/>
            </a:pPr>
            <a:endParaRPr lang="en-ZA" sz="1700"/>
          </a:p>
          <a:p>
            <a:pPr marL="0" indent="0">
              <a:buNone/>
            </a:pPr>
            <a:r>
              <a:rPr lang="en-ZA" sz="1700"/>
              <a:t>    for (int pass = 0; pass &lt; array.length - 1; pass++) {</a:t>
            </a:r>
          </a:p>
          <a:p>
            <a:pPr marL="0" indent="0">
              <a:buNone/>
            </a:pPr>
            <a:endParaRPr lang="en-ZA" sz="1700"/>
          </a:p>
          <a:p>
            <a:pPr marL="0" indent="0">
              <a:buNone/>
            </a:pPr>
            <a:r>
              <a:rPr lang="en-ZA" sz="1700"/>
              <a:t>        for (int i = 0; i &lt; array.length - 1 - pass; i++) {</a:t>
            </a:r>
          </a:p>
          <a:p>
            <a:pPr marL="0" indent="0">
              <a:buNone/>
            </a:pPr>
            <a:endParaRPr lang="en-ZA" sz="1700"/>
          </a:p>
          <a:p>
            <a:pPr marL="0" indent="0">
              <a:buNone/>
            </a:pPr>
            <a:r>
              <a:rPr lang="en-ZA" sz="1700"/>
              <a:t>            if (array[i] &gt; array[i + 1]) {</a:t>
            </a:r>
          </a:p>
          <a:p>
            <a:pPr marL="0" indent="0">
              <a:buNone/>
            </a:pPr>
            <a:endParaRPr lang="en-ZA" sz="1700"/>
          </a:p>
          <a:p>
            <a:pPr marL="0" indent="0">
              <a:buNone/>
            </a:pPr>
            <a:r>
              <a:rPr lang="en-ZA" sz="1700"/>
              <a:t>                int temp = array[i];</a:t>
            </a:r>
          </a:p>
          <a:p>
            <a:pPr marL="0" indent="0">
              <a:buNone/>
            </a:pPr>
            <a:r>
              <a:rPr lang="en-ZA" sz="1700"/>
              <a:t>                array[i] = array[i + 1];</a:t>
            </a:r>
          </a:p>
          <a:p>
            <a:pPr marL="0" indent="0">
              <a:buNone/>
            </a:pPr>
            <a:r>
              <a:rPr lang="en-ZA" sz="1700"/>
              <a:t>                array[i + 1] = temp;</a:t>
            </a:r>
          </a:p>
          <a:p>
            <a:pPr marL="0" indent="0">
              <a:buNone/>
            </a:pPr>
            <a:r>
              <a:rPr lang="en-ZA" sz="1700"/>
              <a:t>            }</a:t>
            </a:r>
          </a:p>
          <a:p>
            <a:pPr marL="0" indent="0">
              <a:buNone/>
            </a:pPr>
            <a:r>
              <a:rPr lang="en-ZA" sz="1700"/>
              <a:t>        }</a:t>
            </a:r>
          </a:p>
          <a:p>
            <a:pPr marL="0" indent="0">
              <a:buNone/>
            </a:pPr>
            <a:r>
              <a:rPr lang="en-ZA" sz="1700"/>
              <a:t>    }</a:t>
            </a:r>
          </a:p>
          <a:p>
            <a:pPr marL="0" indent="0">
              <a:buNone/>
            </a:pPr>
            <a:r>
              <a:rPr lang="en-ZA" sz="17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8172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7AB2-C285-0D7D-5392-B62B8082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9058195" cy="1048901"/>
          </a:xfrm>
        </p:spPr>
        <p:txBody>
          <a:bodyPr anchor="t">
            <a:normAutofit/>
          </a:bodyPr>
          <a:lstStyle/>
          <a:p>
            <a:r>
              <a:rPr lang="en-ZA" sz="3200"/>
              <a:t>Bubble Sort Complexity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035F2-309C-F79B-E6AF-6FEE974C5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1918" y="2321168"/>
            <a:ext cx="4567453" cy="38212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r>
              <a:rPr lang="en-ZA" sz="2000"/>
              <a:t>The O(n) best case applies to the </a:t>
            </a:r>
            <a:r>
              <a:rPr lang="en-ZA" sz="2000" b="1"/>
              <a:t>optimized Bubble Sort</a:t>
            </a:r>
            <a:r>
              <a:rPr lang="en-ZA" sz="2000"/>
              <a:t> that detects when no swaps occur. The basic nested-loop version still performs O(n²) comparisons.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381571-A844-D202-44EE-94D76A71F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57813"/>
              </p:ext>
            </p:extLst>
          </p:nvPr>
        </p:nvGraphicFramePr>
        <p:xfrm>
          <a:off x="873156" y="2924042"/>
          <a:ext cx="5222845" cy="2539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1776">
                  <a:extLst>
                    <a:ext uri="{9D8B030D-6E8A-4147-A177-3AD203B41FA5}">
                      <a16:colId xmlns:a16="http://schemas.microsoft.com/office/drawing/2014/main" val="4254024345"/>
                    </a:ext>
                  </a:extLst>
                </a:gridCol>
                <a:gridCol w="2441069">
                  <a:extLst>
                    <a:ext uri="{9D8B030D-6E8A-4147-A177-3AD203B41FA5}">
                      <a16:colId xmlns:a16="http://schemas.microsoft.com/office/drawing/2014/main" val="2999678914"/>
                    </a:ext>
                  </a:extLst>
                </a:gridCol>
              </a:tblGrid>
              <a:tr h="634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800" b="1"/>
                        <a:t>Case</a:t>
                      </a:r>
                    </a:p>
                  </a:txBody>
                  <a:tcPr marL="144300" marR="144300" marT="72150" marB="72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800" b="1"/>
                        <a:t>Complexity</a:t>
                      </a:r>
                    </a:p>
                  </a:txBody>
                  <a:tcPr marL="144300" marR="144300" marT="72150" marB="72150" anchor="ctr"/>
                </a:tc>
                <a:extLst>
                  <a:ext uri="{0D108BD9-81ED-4DB2-BD59-A6C34878D82A}">
                    <a16:rowId xmlns:a16="http://schemas.microsoft.com/office/drawing/2014/main" val="2826726362"/>
                  </a:ext>
                </a:extLst>
              </a:tr>
              <a:tr h="634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800"/>
                        <a:t>Best Case</a:t>
                      </a:r>
                    </a:p>
                  </a:txBody>
                  <a:tcPr marL="144300" marR="144300" marT="72150" marB="72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800" dirty="0"/>
                        <a:t>O(n)</a:t>
                      </a:r>
                    </a:p>
                  </a:txBody>
                  <a:tcPr marL="144300" marR="144300" marT="72150" marB="72150" anchor="ctr"/>
                </a:tc>
                <a:extLst>
                  <a:ext uri="{0D108BD9-81ED-4DB2-BD59-A6C34878D82A}">
                    <a16:rowId xmlns:a16="http://schemas.microsoft.com/office/drawing/2014/main" val="2535663514"/>
                  </a:ext>
                </a:extLst>
              </a:tr>
              <a:tr h="634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800"/>
                        <a:t>Average Case</a:t>
                      </a:r>
                    </a:p>
                  </a:txBody>
                  <a:tcPr marL="144300" marR="144300" marT="72150" marB="72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800"/>
                        <a:t>O(n²)</a:t>
                      </a:r>
                    </a:p>
                  </a:txBody>
                  <a:tcPr marL="144300" marR="144300" marT="72150" marB="72150" anchor="ctr"/>
                </a:tc>
                <a:extLst>
                  <a:ext uri="{0D108BD9-81ED-4DB2-BD59-A6C34878D82A}">
                    <a16:rowId xmlns:a16="http://schemas.microsoft.com/office/drawing/2014/main" val="1126623730"/>
                  </a:ext>
                </a:extLst>
              </a:tr>
              <a:tr h="634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800"/>
                        <a:t>Worst Case</a:t>
                      </a:r>
                    </a:p>
                  </a:txBody>
                  <a:tcPr marL="144300" marR="144300" marT="72150" marB="72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800" dirty="0"/>
                        <a:t>O(n²)</a:t>
                      </a:r>
                    </a:p>
                  </a:txBody>
                  <a:tcPr marL="144300" marR="144300" marT="72150" marB="72150" anchor="ctr"/>
                </a:tc>
                <a:extLst>
                  <a:ext uri="{0D108BD9-81ED-4DB2-BD59-A6C34878D82A}">
                    <a16:rowId xmlns:a16="http://schemas.microsoft.com/office/drawing/2014/main" val="4021105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732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45583-872E-EAAC-70CD-509AFC03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ZA" sz="4000"/>
              <a:t>Insertion Sort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BBFEE-AEBC-A983-9C95-01AB90678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/>
              <a:t>Insertion Sort takes one element at a time and inserts it into its correct position among the elements that have already been sorted.</a:t>
            </a:r>
          </a:p>
          <a:p>
            <a:pPr marL="0" indent="0">
              <a:buNone/>
            </a:pPr>
            <a:r>
              <a:rPr lang="en-ZA" sz="2200"/>
              <a:t>Think about arranging playing cards in your hand.</a:t>
            </a:r>
          </a:p>
          <a:p>
            <a:pPr marL="0" indent="0">
              <a:buNone/>
            </a:pPr>
            <a:r>
              <a:rPr lang="en-ZA" sz="2200"/>
              <a:t>You pick up a new card and insert it into the correct position.</a:t>
            </a:r>
          </a:p>
          <a:p>
            <a:pPr marL="0" indent="0">
              <a:buNone/>
            </a:pPr>
            <a:endParaRPr lang="en-ZA" sz="2200"/>
          </a:p>
        </p:txBody>
      </p:sp>
    </p:spTree>
    <p:extLst>
      <p:ext uri="{BB962C8B-B14F-4D97-AF65-F5344CB8AC3E}">
        <p14:creationId xmlns:p14="http://schemas.microsoft.com/office/powerpoint/2010/main" val="738748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95A15-CA97-0CCA-B663-3649BF0B5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ZA" sz="4000"/>
              <a:t>Example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21EF1-4B99-B69B-869E-C6D0D6020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/>
              <a:t>Consider:</a:t>
            </a:r>
          </a:p>
          <a:p>
            <a:pPr marL="0" indent="0">
              <a:buNone/>
            </a:pPr>
            <a:r>
              <a:rPr lang="en-ZA" sz="2200"/>
              <a:t>40 20 50 10 30</a:t>
            </a:r>
          </a:p>
          <a:p>
            <a:pPr marL="0" indent="0">
              <a:buNone/>
            </a:pPr>
            <a:r>
              <a:rPr lang="en-ZA" sz="2200"/>
              <a:t>We start by considering the first element:</a:t>
            </a:r>
          </a:p>
          <a:p>
            <a:pPr marL="0" indent="0">
              <a:buNone/>
            </a:pPr>
            <a:r>
              <a:rPr lang="en-ZA" sz="2200"/>
              <a:t>40</a:t>
            </a:r>
          </a:p>
          <a:p>
            <a:pPr marL="0" indent="0">
              <a:buNone/>
            </a:pPr>
            <a:r>
              <a:rPr lang="en-ZA" sz="2200"/>
              <a:t>It is already sorted.</a:t>
            </a:r>
          </a:p>
          <a:p>
            <a:pPr marL="0" indent="0">
              <a:buNone/>
            </a:pPr>
            <a:r>
              <a:rPr lang="en-ZA" sz="2200"/>
              <a:t>40 | 20 50 10 30</a:t>
            </a:r>
          </a:p>
          <a:p>
            <a:pPr marL="0" indent="0">
              <a:buNone/>
            </a:pPr>
            <a:r>
              <a:rPr lang="en-ZA" sz="2200"/>
              <a:t>The | separates the </a:t>
            </a:r>
            <a:r>
              <a:rPr lang="en-ZA" sz="2200" b="1"/>
              <a:t>sorted part</a:t>
            </a:r>
            <a:r>
              <a:rPr lang="en-ZA" sz="2200"/>
              <a:t> from the </a:t>
            </a:r>
            <a:r>
              <a:rPr lang="en-ZA" sz="2200" b="1"/>
              <a:t>unsorted part</a:t>
            </a:r>
            <a:r>
              <a:rPr lang="en-ZA" sz="2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2394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F0C37-437F-44DD-997D-EF57F7B43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ZA"/>
              <a:t>Example…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FAAE6-F663-6F2E-842F-2E3DAC3BD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ZA" sz="2000"/>
              <a:t>Step 1</a:t>
            </a:r>
          </a:p>
          <a:p>
            <a:pPr marL="0" indent="0">
              <a:buNone/>
            </a:pPr>
            <a:r>
              <a:rPr lang="en-ZA" sz="2000"/>
              <a:t>Take 20.</a:t>
            </a:r>
          </a:p>
          <a:p>
            <a:pPr marL="0" indent="0">
              <a:buNone/>
            </a:pPr>
            <a:r>
              <a:rPr lang="en-ZA" sz="2000"/>
              <a:t>40 | 20</a:t>
            </a:r>
          </a:p>
          <a:p>
            <a:pPr marL="0" indent="0">
              <a:buNone/>
            </a:pPr>
            <a:r>
              <a:rPr lang="en-ZA" sz="2000"/>
              <a:t>Compare 20 with 40.</a:t>
            </a:r>
          </a:p>
          <a:p>
            <a:pPr marL="0" indent="0">
              <a:buNone/>
            </a:pPr>
            <a:r>
              <a:rPr lang="en-ZA" sz="2000"/>
              <a:t>Since:</a:t>
            </a:r>
          </a:p>
          <a:p>
            <a:pPr marL="0" indent="0">
              <a:buNone/>
            </a:pPr>
            <a:r>
              <a:rPr lang="en-ZA" sz="2000"/>
              <a:t>20 &lt; 40</a:t>
            </a:r>
          </a:p>
          <a:p>
            <a:pPr marL="0" indent="0">
              <a:buNone/>
            </a:pPr>
            <a:r>
              <a:rPr lang="en-ZA" sz="2000"/>
              <a:t>Move 40 to the right:</a:t>
            </a:r>
          </a:p>
          <a:p>
            <a:pPr marL="0" indent="0">
              <a:buNone/>
            </a:pPr>
            <a:r>
              <a:rPr lang="en-ZA" sz="2000"/>
              <a:t>40 40</a:t>
            </a:r>
          </a:p>
          <a:p>
            <a:pPr marL="0" indent="0">
              <a:buNone/>
            </a:pPr>
            <a:r>
              <a:rPr lang="en-ZA" sz="2000"/>
              <a:t>Insert 20:</a:t>
            </a:r>
          </a:p>
          <a:p>
            <a:pPr marL="0" indent="0">
              <a:buNone/>
            </a:pPr>
            <a:r>
              <a:rPr lang="en-ZA" sz="2000"/>
              <a:t>20 40</a:t>
            </a:r>
          </a:p>
          <a:p>
            <a:pPr marL="0" indent="0">
              <a:buNone/>
            </a:pPr>
            <a:r>
              <a:rPr lang="en-ZA" sz="2000"/>
              <a:t>Now:</a:t>
            </a:r>
          </a:p>
          <a:p>
            <a:pPr marL="0" indent="0">
              <a:buNone/>
            </a:pPr>
            <a:r>
              <a:rPr lang="en-ZA" sz="2000"/>
              <a:t>20 40 | 50 10 30</a:t>
            </a:r>
          </a:p>
        </p:txBody>
      </p:sp>
    </p:spTree>
    <p:extLst>
      <p:ext uri="{BB962C8B-B14F-4D97-AF65-F5344CB8AC3E}">
        <p14:creationId xmlns:p14="http://schemas.microsoft.com/office/powerpoint/2010/main" val="423710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16C03-0B56-C5EC-1B40-DFA074589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ZA" sz="4000"/>
              <a:t>Example…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A0479-A7D6-7E48-BA7D-0E15E28EB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 dirty="0"/>
              <a:t>Take 50.</a:t>
            </a:r>
          </a:p>
          <a:p>
            <a:pPr marL="0" indent="0">
              <a:buNone/>
            </a:pPr>
            <a:r>
              <a:rPr lang="en-ZA" sz="2200" dirty="0"/>
              <a:t>20 40 | 50</a:t>
            </a:r>
          </a:p>
          <a:p>
            <a:pPr marL="0" indent="0">
              <a:buNone/>
            </a:pPr>
            <a:r>
              <a:rPr lang="en-ZA" sz="2200" dirty="0"/>
              <a:t>50 is greater than 40, so it stays where it is.</a:t>
            </a:r>
          </a:p>
          <a:p>
            <a:pPr marL="0" indent="0">
              <a:buNone/>
            </a:pPr>
            <a:r>
              <a:rPr lang="en-ZA" sz="2200" dirty="0"/>
              <a:t>20 40 50 | 10 30</a:t>
            </a:r>
          </a:p>
          <a:p>
            <a:pPr marL="0" indent="0">
              <a:buNone/>
            </a:pPr>
            <a:endParaRPr lang="en-ZA" sz="2200" dirty="0"/>
          </a:p>
          <a:p>
            <a:pPr marL="0" indent="0">
              <a:buNone/>
            </a:pPr>
            <a:endParaRPr lang="en-ZA" sz="2200" dirty="0"/>
          </a:p>
        </p:txBody>
      </p:sp>
    </p:spTree>
    <p:extLst>
      <p:ext uri="{BB962C8B-B14F-4D97-AF65-F5344CB8AC3E}">
        <p14:creationId xmlns:p14="http://schemas.microsoft.com/office/powerpoint/2010/main" val="451049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F26F-59C8-79AA-6401-3627A2953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Example…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1450-34C9-602B-E992-5357539FC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ZA"/>
              <a:t>Step 3</a:t>
            </a:r>
          </a:p>
          <a:p>
            <a:pPr marL="0" indent="0">
              <a:buNone/>
            </a:pPr>
            <a:r>
              <a:rPr lang="en-ZA"/>
              <a:t>Take 10.</a:t>
            </a:r>
          </a:p>
          <a:p>
            <a:pPr marL="0" indent="0">
              <a:buNone/>
            </a:pPr>
            <a:r>
              <a:rPr lang="en-ZA"/>
              <a:t>Current sorted portion:</a:t>
            </a:r>
          </a:p>
          <a:p>
            <a:pPr marL="0" indent="0">
              <a:buNone/>
            </a:pPr>
            <a:r>
              <a:rPr lang="en-ZA"/>
              <a:t>20 40 50</a:t>
            </a:r>
          </a:p>
          <a:p>
            <a:pPr marL="0" indent="0">
              <a:buNone/>
            </a:pPr>
            <a:r>
              <a:rPr lang="en-ZA"/>
              <a:t>Compare 10 with 50</a:t>
            </a:r>
          </a:p>
          <a:p>
            <a:pPr marL="0" indent="0">
              <a:buNone/>
            </a:pPr>
            <a:r>
              <a:rPr lang="en-ZA"/>
              <a:t>Move 50:</a:t>
            </a:r>
          </a:p>
          <a:p>
            <a:pPr marL="0" indent="0">
              <a:buNone/>
            </a:pPr>
            <a:r>
              <a:rPr lang="en-ZA"/>
              <a:t>20 40 50 50</a:t>
            </a:r>
          </a:p>
          <a:p>
            <a:pPr marL="0" indent="0">
              <a:buNone/>
            </a:pPr>
            <a:r>
              <a:rPr lang="en-ZA"/>
              <a:t>Compare 10 with 40.</a:t>
            </a:r>
          </a:p>
          <a:p>
            <a:pPr marL="0" indent="0">
              <a:buNone/>
            </a:pPr>
            <a:r>
              <a:rPr lang="en-ZA"/>
              <a:t>Move 40:</a:t>
            </a:r>
          </a:p>
          <a:p>
            <a:pPr marL="0" indent="0">
              <a:buNone/>
            </a:pPr>
            <a:r>
              <a:rPr lang="en-ZA"/>
              <a:t>20 40 40 50</a:t>
            </a:r>
          </a:p>
          <a:p>
            <a:pPr marL="0" indent="0">
              <a:buNone/>
            </a:pPr>
            <a:r>
              <a:rPr lang="en-ZA"/>
              <a:t>Compare 10 with 20</a:t>
            </a:r>
          </a:p>
          <a:p>
            <a:pPr marL="0" indent="0">
              <a:buNone/>
            </a:pPr>
            <a:r>
              <a:rPr lang="en-ZA"/>
              <a:t>Move 20:</a:t>
            </a:r>
          </a:p>
          <a:p>
            <a:pPr marL="0" indent="0">
              <a:buNone/>
            </a:pPr>
            <a:r>
              <a:rPr lang="en-ZA"/>
              <a:t>20 20 40 50</a:t>
            </a:r>
          </a:p>
          <a:p>
            <a:pPr marL="0" indent="0">
              <a:buNone/>
            </a:pPr>
            <a:r>
              <a:rPr lang="en-ZA"/>
              <a:t>Insert 10:</a:t>
            </a:r>
          </a:p>
          <a:p>
            <a:pPr marL="0" indent="0">
              <a:buNone/>
            </a:pPr>
            <a:r>
              <a:rPr lang="en-ZA"/>
              <a:t>10 20 40 50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22412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A3D30-FA83-B55B-A8B1-D390F8FB9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Insertion Sort Java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7CA7C-D7FA-4275-4382-5FE1C8A99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ZA" sz="1800" dirty="0"/>
              <a:t>public void </a:t>
            </a:r>
            <a:r>
              <a:rPr lang="en-ZA" sz="1800" dirty="0" err="1"/>
              <a:t>insertionSort</a:t>
            </a:r>
            <a:r>
              <a:rPr lang="en-ZA" sz="1800" dirty="0"/>
              <a:t>(int[] array) {</a:t>
            </a:r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r>
              <a:rPr lang="en-ZA" sz="1800" dirty="0"/>
              <a:t>    for (int </a:t>
            </a:r>
            <a:r>
              <a:rPr lang="en-ZA" sz="1800" dirty="0" err="1"/>
              <a:t>i</a:t>
            </a:r>
            <a:r>
              <a:rPr lang="en-ZA" sz="1800" dirty="0"/>
              <a:t> = 1; </a:t>
            </a:r>
            <a:r>
              <a:rPr lang="en-ZA" sz="1800" dirty="0" err="1"/>
              <a:t>i</a:t>
            </a:r>
            <a:r>
              <a:rPr lang="en-ZA" sz="1800" dirty="0"/>
              <a:t> &lt; </a:t>
            </a:r>
            <a:r>
              <a:rPr lang="en-ZA" sz="1800" dirty="0" err="1"/>
              <a:t>array.length</a:t>
            </a:r>
            <a:r>
              <a:rPr lang="en-ZA" sz="1800" dirty="0"/>
              <a:t>; </a:t>
            </a:r>
            <a:r>
              <a:rPr lang="en-ZA" sz="1800" dirty="0" err="1"/>
              <a:t>i</a:t>
            </a:r>
            <a:r>
              <a:rPr lang="en-ZA" sz="1800" dirty="0"/>
              <a:t>++) {</a:t>
            </a:r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r>
              <a:rPr lang="en-ZA" sz="1800" dirty="0"/>
              <a:t>        int key = array[</a:t>
            </a:r>
            <a:r>
              <a:rPr lang="en-ZA" sz="1800" dirty="0" err="1"/>
              <a:t>i</a:t>
            </a:r>
            <a:r>
              <a:rPr lang="en-ZA" sz="1800" dirty="0"/>
              <a:t>];</a:t>
            </a:r>
          </a:p>
          <a:p>
            <a:pPr marL="0" indent="0">
              <a:buNone/>
            </a:pPr>
            <a:r>
              <a:rPr lang="en-ZA" sz="1800" dirty="0"/>
              <a:t>        int j = </a:t>
            </a:r>
            <a:r>
              <a:rPr lang="en-ZA" sz="1800" dirty="0" err="1"/>
              <a:t>i</a:t>
            </a:r>
            <a:r>
              <a:rPr lang="en-ZA" sz="1800" dirty="0"/>
              <a:t> - 1;</a:t>
            </a:r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r>
              <a:rPr lang="en-ZA" sz="1800" dirty="0"/>
              <a:t>        while (j &gt;= 0 &amp;&amp; array[j] &gt; key) {</a:t>
            </a:r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r>
              <a:rPr lang="en-ZA" sz="1800" dirty="0"/>
              <a:t>            array[j + 1] = array[j];</a:t>
            </a:r>
          </a:p>
          <a:p>
            <a:pPr marL="0" indent="0">
              <a:buNone/>
            </a:pPr>
            <a:r>
              <a:rPr lang="en-ZA" sz="1800" dirty="0"/>
              <a:t>            j--;</a:t>
            </a:r>
          </a:p>
          <a:p>
            <a:pPr marL="0" indent="0">
              <a:buNone/>
            </a:pPr>
            <a:r>
              <a:rPr lang="en-ZA" sz="1800" dirty="0"/>
              <a:t>        }</a:t>
            </a:r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r>
              <a:rPr lang="en-ZA" sz="1800" dirty="0"/>
              <a:t>        array[j + 1] = key;</a:t>
            </a:r>
          </a:p>
          <a:p>
            <a:pPr marL="0" indent="0">
              <a:buNone/>
            </a:pPr>
            <a:r>
              <a:rPr lang="en-ZA" sz="1800" dirty="0"/>
              <a:t>    }</a:t>
            </a:r>
          </a:p>
          <a:p>
            <a:pPr marL="0" indent="0">
              <a:buNone/>
            </a:pPr>
            <a:r>
              <a:rPr lang="en-ZA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6911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BCBFE-1D3F-67D5-7C2C-5A9CB86C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ZA" sz="4800"/>
              <a:t>Insertion Sort Complexity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60925-DFB5-E8EB-094C-F169F2EF8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r>
              <a:rPr lang="en-ZA" sz="2000"/>
              <a:t>The best case occurs when the array is already sorted or nearly sorted, because very little shifting is required.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12F824-763A-82F5-0EAE-1D8B00713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36304"/>
              </p:ext>
            </p:extLst>
          </p:nvPr>
        </p:nvGraphicFramePr>
        <p:xfrm>
          <a:off x="5911532" y="2711803"/>
          <a:ext cx="5150278" cy="3259148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2733530">
                  <a:extLst>
                    <a:ext uri="{9D8B030D-6E8A-4147-A177-3AD203B41FA5}">
                      <a16:colId xmlns:a16="http://schemas.microsoft.com/office/drawing/2014/main" val="1707258188"/>
                    </a:ext>
                  </a:extLst>
                </a:gridCol>
                <a:gridCol w="2416748">
                  <a:extLst>
                    <a:ext uri="{9D8B030D-6E8A-4147-A177-3AD203B41FA5}">
                      <a16:colId xmlns:a16="http://schemas.microsoft.com/office/drawing/2014/main" val="2971065579"/>
                    </a:ext>
                  </a:extLst>
                </a:gridCol>
              </a:tblGrid>
              <a:tr h="814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600" b="1" cap="none" spc="0">
                          <a:solidFill>
                            <a:schemeClr val="tx1"/>
                          </a:solidFill>
                        </a:rPr>
                        <a:t>Case</a:t>
                      </a:r>
                    </a:p>
                  </a:txBody>
                  <a:tcPr marL="223779" marR="172138" marT="172138" marB="17213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600" b="1" cap="none" spc="0">
                          <a:solidFill>
                            <a:schemeClr val="tx1"/>
                          </a:solidFill>
                        </a:rPr>
                        <a:t>Complexity</a:t>
                      </a:r>
                    </a:p>
                  </a:txBody>
                  <a:tcPr marL="223779" marR="172138" marT="172138" marB="172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776344"/>
                  </a:ext>
                </a:extLst>
              </a:tr>
              <a:tr h="814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600" cap="none" spc="0">
                          <a:solidFill>
                            <a:schemeClr val="tx1"/>
                          </a:solidFill>
                        </a:rPr>
                        <a:t>Best Case</a:t>
                      </a:r>
                    </a:p>
                  </a:txBody>
                  <a:tcPr marL="223779" marR="172138" marT="172138" marB="17213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600" cap="none" spc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 marL="223779" marR="172138" marT="172138" marB="172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665994"/>
                  </a:ext>
                </a:extLst>
              </a:tr>
              <a:tr h="814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600" cap="none" spc="0">
                          <a:solidFill>
                            <a:schemeClr val="tx1"/>
                          </a:solidFill>
                        </a:rPr>
                        <a:t>Average Case</a:t>
                      </a:r>
                    </a:p>
                  </a:txBody>
                  <a:tcPr marL="223779" marR="172138" marT="172138" marB="17213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600" cap="none" spc="0">
                          <a:solidFill>
                            <a:schemeClr val="tx1"/>
                          </a:solidFill>
                        </a:rPr>
                        <a:t>O(n²)</a:t>
                      </a:r>
                    </a:p>
                  </a:txBody>
                  <a:tcPr marL="223779" marR="172138" marT="172138" marB="172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193690"/>
                  </a:ext>
                </a:extLst>
              </a:tr>
              <a:tr h="814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600" cap="none" spc="0">
                          <a:solidFill>
                            <a:schemeClr val="tx1"/>
                          </a:solidFill>
                        </a:rPr>
                        <a:t>Worst Case</a:t>
                      </a:r>
                    </a:p>
                  </a:txBody>
                  <a:tcPr marL="223779" marR="172138" marT="172138" marB="17213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600" cap="none" spc="0">
                          <a:solidFill>
                            <a:schemeClr val="tx1"/>
                          </a:solidFill>
                        </a:rPr>
                        <a:t>O(n²)</a:t>
                      </a:r>
                    </a:p>
                  </a:txBody>
                  <a:tcPr marL="223779" marR="172138" marT="172138" marB="172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51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0419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985A1-6A0E-4DEC-682E-DD9C8AA83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ZA" sz="4000"/>
              <a:t>Selection Sort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DCC0C-E8B5-461A-54DC-C03EF435A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/>
              <a:t>The main idea is:</a:t>
            </a:r>
          </a:p>
          <a:p>
            <a:pPr marL="0" indent="0">
              <a:buNone/>
            </a:pPr>
            <a:r>
              <a:rPr lang="en-ZA" sz="2200"/>
              <a:t>Find the smallest element in the unsorted portion and place it at the beginning of that portion.</a:t>
            </a:r>
          </a:p>
          <a:p>
            <a:pPr marL="0" indent="0">
              <a:buNone/>
            </a:pPr>
            <a:endParaRPr lang="en-ZA" sz="2200"/>
          </a:p>
        </p:txBody>
      </p:sp>
    </p:spTree>
    <p:extLst>
      <p:ext uri="{BB962C8B-B14F-4D97-AF65-F5344CB8AC3E}">
        <p14:creationId xmlns:p14="http://schemas.microsoft.com/office/powerpoint/2010/main" val="2710352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2BF51-13F2-DE25-B9E6-8C228970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Example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E9C35-CC83-E5F0-6696-43C30F868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/>
              <a:t>Consider:</a:t>
            </a:r>
          </a:p>
          <a:p>
            <a:pPr marL="0" indent="0">
              <a:buNone/>
            </a:pPr>
            <a:r>
              <a:rPr lang="en-ZA"/>
              <a:t>64 25 12 22 11</a:t>
            </a:r>
          </a:p>
          <a:p>
            <a:pPr marL="0" indent="0">
              <a:buNone/>
            </a:pPr>
            <a:r>
              <a:rPr lang="en-ZA"/>
              <a:t>We want ascending order.</a:t>
            </a:r>
          </a:p>
          <a:p>
            <a:pPr marL="0" indent="0">
              <a:buNone/>
            </a:pPr>
            <a:r>
              <a:rPr lang="en-ZA"/>
              <a:t>Pass 1</a:t>
            </a:r>
          </a:p>
          <a:p>
            <a:pPr marL="0" indent="0">
              <a:buNone/>
            </a:pPr>
            <a:r>
              <a:rPr lang="en-ZA"/>
              <a:t>Find the smallest value in the array.</a:t>
            </a:r>
          </a:p>
          <a:p>
            <a:pPr marL="0" indent="0">
              <a:buNone/>
            </a:pPr>
            <a:r>
              <a:rPr lang="en-ZA"/>
              <a:t>The smallest is 11.</a:t>
            </a:r>
          </a:p>
          <a:p>
            <a:pPr marL="0" indent="0">
              <a:buNone/>
            </a:pPr>
            <a:r>
              <a:rPr lang="en-ZA"/>
              <a:t>Swap it with the first element:</a:t>
            </a:r>
          </a:p>
          <a:p>
            <a:pPr marL="0" indent="0">
              <a:buNone/>
            </a:pPr>
            <a:r>
              <a:rPr lang="en-ZA"/>
              <a:t>11 25 12 22 64</a:t>
            </a:r>
          </a:p>
          <a:p>
            <a:pPr marL="0" indent="0">
              <a:buNone/>
            </a:pPr>
            <a:r>
              <a:rPr lang="en-ZA"/>
              <a:t>Now 11 is in its correct position.</a:t>
            </a:r>
          </a:p>
          <a:p>
            <a:pPr marL="0" indent="0">
              <a:buNone/>
            </a:pPr>
            <a:r>
              <a:rPr lang="en-ZA"/>
              <a:t>11 | 25 12 22 64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38980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E303-A97B-90A7-B198-DA6686E9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AAD3D-A04F-1150-0EDC-5B26FB847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ZA" dirty="0"/>
              <a:t>Pass 2</a:t>
            </a:r>
          </a:p>
          <a:p>
            <a:pPr marL="0" indent="0">
              <a:buNone/>
            </a:pPr>
            <a:r>
              <a:rPr lang="en-ZA" dirty="0"/>
              <a:t>Look only at:</a:t>
            </a:r>
          </a:p>
          <a:p>
            <a:pPr marL="0" indent="0">
              <a:buNone/>
            </a:pPr>
            <a:r>
              <a:rPr lang="en-ZA" dirty="0"/>
              <a:t>25 12 22 64</a:t>
            </a:r>
          </a:p>
          <a:p>
            <a:pPr marL="0" indent="0">
              <a:buNone/>
            </a:pPr>
            <a:r>
              <a:rPr lang="en-ZA" dirty="0"/>
              <a:t>The smallest is 12.</a:t>
            </a:r>
          </a:p>
          <a:p>
            <a:pPr marL="0" indent="0">
              <a:buNone/>
            </a:pPr>
            <a:r>
              <a:rPr lang="en-ZA" dirty="0"/>
              <a:t>Swap 12 with 25:</a:t>
            </a:r>
          </a:p>
          <a:p>
            <a:pPr marL="0" indent="0">
              <a:buNone/>
            </a:pPr>
            <a:r>
              <a:rPr lang="en-ZA" dirty="0"/>
              <a:t>11 12 25 22 64</a:t>
            </a:r>
          </a:p>
          <a:p>
            <a:pPr marL="0" indent="0">
              <a:buNone/>
            </a:pPr>
            <a:r>
              <a:rPr lang="en-ZA" dirty="0"/>
              <a:t>Now:</a:t>
            </a:r>
          </a:p>
          <a:p>
            <a:pPr marL="0" indent="0">
              <a:buNone/>
            </a:pPr>
            <a:r>
              <a:rPr lang="en-ZA" dirty="0"/>
              <a:t>11 12 | 25 22 64</a:t>
            </a:r>
          </a:p>
          <a:p>
            <a:pPr marL="0" indent="0">
              <a:buNone/>
            </a:pPr>
            <a:r>
              <a:rPr lang="en-ZA" dirty="0"/>
              <a:t>And so on…</a:t>
            </a:r>
          </a:p>
        </p:txBody>
      </p:sp>
    </p:spTree>
    <p:extLst>
      <p:ext uri="{BB962C8B-B14F-4D97-AF65-F5344CB8AC3E}">
        <p14:creationId xmlns:p14="http://schemas.microsoft.com/office/powerpoint/2010/main" val="35691362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D873F-DAF2-9F95-8BB8-73E29CBD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ZA" dirty="0"/>
              <a:t>Selection Sort Java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A7946-BAC3-D754-073D-1B776F72C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ZA" sz="1600" dirty="0"/>
              <a:t>public void </a:t>
            </a:r>
            <a:r>
              <a:rPr lang="en-ZA" sz="1600" dirty="0" err="1"/>
              <a:t>selectionSort</a:t>
            </a:r>
            <a:r>
              <a:rPr lang="en-ZA" sz="1600" dirty="0"/>
              <a:t>(int[] array) {</a:t>
            </a:r>
          </a:p>
          <a:p>
            <a:pPr marL="0" indent="0">
              <a:buNone/>
            </a:pPr>
            <a:endParaRPr lang="en-ZA" sz="1600" dirty="0"/>
          </a:p>
          <a:p>
            <a:pPr marL="0" indent="0">
              <a:buNone/>
            </a:pPr>
            <a:r>
              <a:rPr lang="en-ZA" sz="1600" dirty="0"/>
              <a:t>    for (int </a:t>
            </a:r>
            <a:r>
              <a:rPr lang="en-ZA" sz="1600" dirty="0" err="1"/>
              <a:t>i</a:t>
            </a:r>
            <a:r>
              <a:rPr lang="en-ZA" sz="1600" dirty="0"/>
              <a:t> = 0; </a:t>
            </a:r>
            <a:r>
              <a:rPr lang="en-ZA" sz="1600" dirty="0" err="1"/>
              <a:t>i</a:t>
            </a:r>
            <a:r>
              <a:rPr lang="en-ZA" sz="1600" dirty="0"/>
              <a:t> &lt; </a:t>
            </a:r>
            <a:r>
              <a:rPr lang="en-ZA" sz="1600" dirty="0" err="1"/>
              <a:t>array.length</a:t>
            </a:r>
            <a:r>
              <a:rPr lang="en-ZA" sz="1600" dirty="0"/>
              <a:t> - 1; </a:t>
            </a:r>
            <a:r>
              <a:rPr lang="en-ZA" sz="1600" dirty="0" err="1"/>
              <a:t>i</a:t>
            </a:r>
            <a:r>
              <a:rPr lang="en-ZA" sz="1600" dirty="0"/>
              <a:t>++) {</a:t>
            </a:r>
          </a:p>
          <a:p>
            <a:pPr marL="0" indent="0">
              <a:buNone/>
            </a:pPr>
            <a:endParaRPr lang="en-ZA" sz="1600" dirty="0"/>
          </a:p>
          <a:p>
            <a:pPr marL="0" indent="0">
              <a:buNone/>
            </a:pPr>
            <a:r>
              <a:rPr lang="en-ZA" sz="1600" dirty="0"/>
              <a:t>        int </a:t>
            </a:r>
            <a:r>
              <a:rPr lang="en-ZA" sz="1600" dirty="0" err="1"/>
              <a:t>minIndex</a:t>
            </a:r>
            <a:r>
              <a:rPr lang="en-ZA" sz="1600" dirty="0"/>
              <a:t> = </a:t>
            </a:r>
            <a:r>
              <a:rPr lang="en-ZA" sz="1600" dirty="0" err="1"/>
              <a:t>i</a:t>
            </a:r>
            <a:r>
              <a:rPr lang="en-ZA" sz="1600" dirty="0"/>
              <a:t>;</a:t>
            </a:r>
          </a:p>
          <a:p>
            <a:pPr marL="0" indent="0">
              <a:buNone/>
            </a:pPr>
            <a:endParaRPr lang="en-ZA" sz="1600" dirty="0"/>
          </a:p>
          <a:p>
            <a:pPr marL="0" indent="0">
              <a:buNone/>
            </a:pPr>
            <a:r>
              <a:rPr lang="en-ZA" sz="1600" dirty="0"/>
              <a:t>        for (int j = </a:t>
            </a:r>
            <a:r>
              <a:rPr lang="en-ZA" sz="1600" dirty="0" err="1"/>
              <a:t>i</a:t>
            </a:r>
            <a:r>
              <a:rPr lang="en-ZA" sz="1600" dirty="0"/>
              <a:t> + 1; j &lt; </a:t>
            </a:r>
            <a:r>
              <a:rPr lang="en-ZA" sz="1600" dirty="0" err="1"/>
              <a:t>array.length</a:t>
            </a:r>
            <a:r>
              <a:rPr lang="en-ZA" sz="1600" dirty="0"/>
              <a:t>; </a:t>
            </a:r>
            <a:r>
              <a:rPr lang="en-ZA" sz="1600" dirty="0" err="1"/>
              <a:t>j++</a:t>
            </a:r>
            <a:r>
              <a:rPr lang="en-ZA" sz="1600" dirty="0"/>
              <a:t>) {</a:t>
            </a:r>
          </a:p>
          <a:p>
            <a:pPr marL="0" indent="0">
              <a:buNone/>
            </a:pPr>
            <a:endParaRPr lang="en-ZA" sz="1600" dirty="0"/>
          </a:p>
          <a:p>
            <a:pPr marL="0" indent="0">
              <a:buNone/>
            </a:pPr>
            <a:r>
              <a:rPr lang="en-ZA" sz="1600" dirty="0"/>
              <a:t>            if (array[j] &lt; array[</a:t>
            </a:r>
            <a:r>
              <a:rPr lang="en-ZA" sz="1600" dirty="0" err="1"/>
              <a:t>minIndex</a:t>
            </a:r>
            <a:r>
              <a:rPr lang="en-ZA" sz="1600" dirty="0"/>
              <a:t>]) {</a:t>
            </a:r>
          </a:p>
          <a:p>
            <a:pPr marL="0" indent="0">
              <a:buNone/>
            </a:pPr>
            <a:r>
              <a:rPr lang="en-ZA" sz="1600" dirty="0"/>
              <a:t>                </a:t>
            </a:r>
            <a:r>
              <a:rPr lang="en-ZA" sz="1600" dirty="0" err="1"/>
              <a:t>minIndex</a:t>
            </a:r>
            <a:r>
              <a:rPr lang="en-ZA" sz="1600" dirty="0"/>
              <a:t> = j;</a:t>
            </a:r>
          </a:p>
          <a:p>
            <a:pPr marL="0" indent="0">
              <a:buNone/>
            </a:pPr>
            <a:r>
              <a:rPr lang="en-ZA" sz="1600" dirty="0"/>
              <a:t>            }</a:t>
            </a:r>
          </a:p>
          <a:p>
            <a:pPr marL="0" indent="0">
              <a:buNone/>
            </a:pPr>
            <a:r>
              <a:rPr lang="en-ZA" sz="1600" dirty="0"/>
              <a:t>        }</a:t>
            </a:r>
          </a:p>
          <a:p>
            <a:pPr marL="0" indent="0">
              <a:buNone/>
            </a:pPr>
            <a:endParaRPr lang="en-ZA" sz="1600" dirty="0"/>
          </a:p>
          <a:p>
            <a:pPr marL="0" indent="0">
              <a:buNone/>
            </a:pPr>
            <a:r>
              <a:rPr lang="en-ZA" sz="1600" dirty="0"/>
              <a:t>        int temp = array[</a:t>
            </a:r>
            <a:r>
              <a:rPr lang="en-ZA" sz="1600" dirty="0" err="1"/>
              <a:t>i</a:t>
            </a:r>
            <a:r>
              <a:rPr lang="en-ZA" sz="1600" dirty="0"/>
              <a:t>];</a:t>
            </a:r>
          </a:p>
          <a:p>
            <a:pPr marL="0" indent="0">
              <a:buNone/>
            </a:pPr>
            <a:r>
              <a:rPr lang="en-ZA" sz="1600" dirty="0"/>
              <a:t>        array[</a:t>
            </a:r>
            <a:r>
              <a:rPr lang="en-ZA" sz="1600" dirty="0" err="1"/>
              <a:t>i</a:t>
            </a:r>
            <a:r>
              <a:rPr lang="en-ZA" sz="1600" dirty="0"/>
              <a:t>] = array[</a:t>
            </a:r>
            <a:r>
              <a:rPr lang="en-ZA" sz="1600" dirty="0" err="1"/>
              <a:t>minIndex</a:t>
            </a:r>
            <a:r>
              <a:rPr lang="en-ZA" sz="1600" dirty="0"/>
              <a:t>];</a:t>
            </a:r>
          </a:p>
          <a:p>
            <a:pPr marL="0" indent="0">
              <a:buNone/>
            </a:pPr>
            <a:r>
              <a:rPr lang="en-ZA" sz="1600" dirty="0"/>
              <a:t>        array[</a:t>
            </a:r>
            <a:r>
              <a:rPr lang="en-ZA" sz="1600" dirty="0" err="1"/>
              <a:t>minIndex</a:t>
            </a:r>
            <a:r>
              <a:rPr lang="en-ZA" sz="1600" dirty="0"/>
              <a:t>] = temp;</a:t>
            </a:r>
          </a:p>
          <a:p>
            <a:pPr marL="0" indent="0">
              <a:buNone/>
            </a:pPr>
            <a:r>
              <a:rPr lang="en-ZA" sz="1600" dirty="0"/>
              <a:t>    }</a:t>
            </a:r>
          </a:p>
          <a:p>
            <a:pPr marL="0" indent="0">
              <a:buNone/>
            </a:pPr>
            <a:r>
              <a:rPr lang="en-ZA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93388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AB53-EE85-E181-65C8-587D35BF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Selection Sort Complexity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6C0EB-82EF-CB03-FDC8-1E1058239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ZA"/>
          </a:p>
          <a:p>
            <a:pPr marL="0" indent="0">
              <a:buNone/>
            </a:pPr>
            <a:endParaRPr lang="en-ZA"/>
          </a:p>
          <a:p>
            <a:pPr marL="0" indent="0">
              <a:buNone/>
            </a:pPr>
            <a:endParaRPr lang="en-ZA"/>
          </a:p>
          <a:p>
            <a:pPr marL="0" indent="0">
              <a:buNone/>
            </a:pPr>
            <a:endParaRPr lang="en-ZA"/>
          </a:p>
          <a:p>
            <a:pPr marL="0" indent="0">
              <a:buNone/>
            </a:pPr>
            <a:endParaRPr lang="en-ZA"/>
          </a:p>
          <a:p>
            <a:pPr marL="0" indent="0">
              <a:buNone/>
            </a:pPr>
            <a:r>
              <a:rPr lang="en-ZA"/>
              <a:t>Unlike insertion sort, selection sort still performs its comparisons even when the array is already sorted.</a:t>
            </a:r>
            <a:endParaRPr lang="en-Z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A24076-43C9-2B57-25E5-83D5C1CDF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52621"/>
              </p:ext>
            </p:extLst>
          </p:nvPr>
        </p:nvGraphicFramePr>
        <p:xfrm>
          <a:off x="838200" y="1825625"/>
          <a:ext cx="10515600" cy="24633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641100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79367136"/>
                    </a:ext>
                  </a:extLst>
                </a:gridCol>
              </a:tblGrid>
              <a:tr h="615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Complexity</a:t>
                      </a:r>
                      <a:endParaRPr lang="en-ZA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244309"/>
                  </a:ext>
                </a:extLst>
              </a:tr>
              <a:tr h="615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Best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O(n²)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875800"/>
                  </a:ext>
                </a:extLst>
              </a:tr>
              <a:tr h="615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Average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O(n²)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796921"/>
                  </a:ext>
                </a:extLst>
              </a:tr>
              <a:tr h="615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Worst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O(n²)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2231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872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D3D34-D343-F32A-DEC0-2A8D7AA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The Three Algorithms</a:t>
            </a:r>
            <a:endParaRPr lang="en-Z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AE30F0-F131-D4BE-6F6E-2E3EE8A8CF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681974"/>
              </p:ext>
            </p:extLst>
          </p:nvPr>
        </p:nvGraphicFramePr>
        <p:xfrm>
          <a:off x="838200" y="2081054"/>
          <a:ext cx="1051560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620166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893954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328525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494506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Bubble 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Insertion 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Selection Sort</a:t>
                      </a:r>
                      <a:endParaRPr lang="en-ZA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154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Main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Compare adjacent elements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Insert element into sorted portion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Select smallest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8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Best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O(n²)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440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Average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O(n²)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735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Worst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O(n²)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386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Uses swapping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Mainly shifting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729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Sorted portion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At the 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At the beginning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At the beginning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41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Good for nearly sorted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Yes*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7382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Requires sorted input?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679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76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2344</Words>
  <Application>Microsoft Office PowerPoint</Application>
  <PresentationFormat>Widescreen</PresentationFormat>
  <Paragraphs>458</Paragraphs>
  <Slides>38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Office Theme</vt:lpstr>
      <vt:lpstr>Introduction to Arrays</vt:lpstr>
      <vt:lpstr>What is an Array?</vt:lpstr>
      <vt:lpstr>Search &amp; Sort Algorithms</vt:lpstr>
      <vt:lpstr>What Is Searching?</vt:lpstr>
      <vt:lpstr>Two Search Algorithms</vt:lpstr>
      <vt:lpstr>Linear Search</vt:lpstr>
      <vt:lpstr>Linear Search…</vt:lpstr>
      <vt:lpstr>Best, Average and Worst Case</vt:lpstr>
      <vt:lpstr>Best Case</vt:lpstr>
      <vt:lpstr>Worst Case</vt:lpstr>
      <vt:lpstr>Average Case</vt:lpstr>
      <vt:lpstr>Quick Question</vt:lpstr>
      <vt:lpstr>Binary Search</vt:lpstr>
      <vt:lpstr>Let’s Try To Understand Binary Search</vt:lpstr>
      <vt:lpstr>Binary Search Java Method</vt:lpstr>
      <vt:lpstr>Binary Search Complexity</vt:lpstr>
      <vt:lpstr>Average Case</vt:lpstr>
      <vt:lpstr>Worst Case</vt:lpstr>
      <vt:lpstr>Linear vs Binary Search</vt:lpstr>
      <vt:lpstr>Sorting Algorithms</vt:lpstr>
      <vt:lpstr>Bubble Sort</vt:lpstr>
      <vt:lpstr>Example</vt:lpstr>
      <vt:lpstr>Pass 2</vt:lpstr>
      <vt:lpstr>Bubble Sort Java Code</vt:lpstr>
      <vt:lpstr>Bubble Sort Complexity</vt:lpstr>
      <vt:lpstr>Insertion Sort</vt:lpstr>
      <vt:lpstr>Example</vt:lpstr>
      <vt:lpstr>Example…</vt:lpstr>
      <vt:lpstr>Example…</vt:lpstr>
      <vt:lpstr>Example…</vt:lpstr>
      <vt:lpstr>Insertion Sort Java Code</vt:lpstr>
      <vt:lpstr>Insertion Sort Complexity</vt:lpstr>
      <vt:lpstr>Selection Sort</vt:lpstr>
      <vt:lpstr>Example</vt:lpstr>
      <vt:lpstr>Example</vt:lpstr>
      <vt:lpstr>Selection Sort Java Code</vt:lpstr>
      <vt:lpstr>Selection Sort Complexity</vt:lpstr>
      <vt:lpstr>The Three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OLWABO SALELO</dc:creator>
  <cp:lastModifiedBy>OLWABO SALELO</cp:lastModifiedBy>
  <cp:revision>4</cp:revision>
  <dcterms:created xsi:type="dcterms:W3CDTF">2026-08-31T22:41:07Z</dcterms:created>
  <dcterms:modified xsi:type="dcterms:W3CDTF">2026-09-03T15:17:39Z</dcterms:modified>
</cp:coreProperties>
</file>